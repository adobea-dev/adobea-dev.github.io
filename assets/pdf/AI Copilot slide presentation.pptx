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8288000" cy="10287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nva Sans Bold" panose="020B0604020202020204" charset="0"/>
      <p:regular r:id="rId26"/>
    </p:embeddedFont>
    <p:embeddedFont>
      <p:font typeface="Open Sauce" panose="020B0604020202020204" charset="0"/>
      <p:regular r:id="rId27"/>
    </p:embeddedFont>
    <p:embeddedFont>
      <p:font typeface="Open Sauce Bold" panose="020B0604020202020204" charset="0"/>
      <p:regular r:id="rId28"/>
    </p:embeddedFont>
    <p:embeddedFont>
      <p:font typeface="Open Sauce Bold Italics" panose="020B0604020202020204" charset="0"/>
      <p:regular r:id="rId29"/>
    </p:embeddedFont>
    <p:embeddedFont>
      <p:font typeface="Open Sauce Light" panose="020B0604020202020204" charset="0"/>
      <p:regular r:id="rId30"/>
    </p:embeddedFont>
    <p:embeddedFont>
      <p:font typeface="TT Fors" panose="020B0604020202020204" charset="0"/>
      <p:regular r:id="rId31"/>
    </p:embeddedFont>
    <p:embeddedFont>
      <p:font typeface="TT Fors Bold" panose="020B0604020202020204" charset="0"/>
      <p:regular r:id="rId32"/>
    </p:embeddedFont>
    <p:embeddedFont>
      <p:font typeface="TT Fors Italics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77395" autoAdjust="0"/>
  </p:normalViewPr>
  <p:slideViewPr>
    <p:cSldViewPr>
      <p:cViewPr>
        <p:scale>
          <a:sx n="43" d="100"/>
          <a:sy n="43" d="100"/>
        </p:scale>
        <p:origin x="74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E048CE-ABF0-44E6-89F8-55E97269DAF0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DB9F07-970B-41B3-AE37-B3A8134D7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2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yourself.  (Name, Final Year Student &amp; Machine Learning and AI Practitioner)</a:t>
            </a:r>
          </a:p>
          <a:p>
            <a:r>
              <a:rPr lang="en-US" dirty="0"/>
              <a:t>Introduce the thesis title </a:t>
            </a:r>
          </a:p>
          <a:p>
            <a:r>
              <a:rPr lang="en-US" dirty="0"/>
              <a:t>Introduce Autochek Africa (our partnership with car dealers to sell car loans)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63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Outlines the structure of my presentation, from introduction and methodology to results and conclusion, with each section broken down into sub-sections for clarity.</a:t>
            </a:r>
          </a:p>
          <a:p>
            <a:endParaRPr lang="en-US" dirty="0"/>
          </a:p>
          <a:p>
            <a:r>
              <a:rPr lang="en-US" dirty="0"/>
              <a:t>1.I will </a:t>
            </a:r>
            <a:r>
              <a:rPr lang="en-US" b="1" dirty="0"/>
              <a:t>begin with the introduction and literature review to provide some context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2. Then I will present </a:t>
            </a:r>
            <a:r>
              <a:rPr lang="en-US" b="1" dirty="0"/>
              <a:t>the problem statement and objectives of the study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3. Next, I </a:t>
            </a:r>
            <a:r>
              <a:rPr lang="en-US" b="1" dirty="0"/>
              <a:t>will discuss the methodology</a:t>
            </a:r>
            <a:r>
              <a:rPr lang="en-US" dirty="0"/>
              <a:t>. </a:t>
            </a:r>
            <a:r>
              <a:rPr lang="en-US" b="1" dirty="0"/>
              <a:t>Each section is further divided into sub-sections to clearly explain the different components of the system and the evaluation process. </a:t>
            </a:r>
          </a:p>
          <a:p>
            <a:endParaRPr lang="en-US" b="1" dirty="0"/>
          </a:p>
          <a:p>
            <a:r>
              <a:rPr lang="en-US" dirty="0"/>
              <a:t>4. Then we will </a:t>
            </a:r>
            <a:r>
              <a:rPr lang="en-US" b="1" dirty="0"/>
              <a:t>conclude with key findings and insights from the 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91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Pointers : </a:t>
            </a:r>
          </a:p>
          <a:p>
            <a:endParaRPr lang="en-US" dirty="0"/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Decision-making depends heavily on access to accurate data.</a:t>
            </a:r>
          </a:p>
          <a:p>
            <a:pPr marL="0" indent="0">
              <a:buNone/>
            </a:pPr>
            <a:endParaRPr lang="en-US" dirty="0"/>
          </a:p>
          <a:p>
            <a:pPr marL="228600" indent="-228600">
              <a:buAutoNum type="arabicPeriod" startAt="2"/>
            </a:pPr>
            <a:r>
              <a:rPr lang="en-US" dirty="0"/>
              <a:t>The data is often fragmented across multiple systems, making it difficult and time-consuming to access.</a:t>
            </a:r>
          </a:p>
          <a:p>
            <a:pPr marL="228600" indent="-228600">
              <a:buAutoNum type="arabicPeriod" startAt="2"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 Introduces an AI-powered assistant that allows users to ask questions in natural language and receive instant, reliable insights from a unified data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16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Pointers;</a:t>
            </a:r>
          </a:p>
          <a:p>
            <a:endParaRPr lang="en-US" dirty="0"/>
          </a:p>
          <a:p>
            <a:r>
              <a:rPr lang="en-US" dirty="0"/>
              <a:t>Previous research has explored agentic AI systems, LLM-based agents, and tool-augmented frameworks such as </a:t>
            </a:r>
            <a:r>
              <a:rPr lang="en-US" dirty="0" err="1"/>
              <a:t>ReAct</a:t>
            </a:r>
            <a:r>
              <a:rPr lang="en-US" dirty="0"/>
              <a:t> and </a:t>
            </a:r>
            <a:r>
              <a:rPr lang="en-US" dirty="0" err="1"/>
              <a:t>AutoGen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These approaches show strong capabilities in reasoning and task execution.</a:t>
            </a:r>
          </a:p>
          <a:p>
            <a:endParaRPr lang="en-US" dirty="0"/>
          </a:p>
          <a:p>
            <a:r>
              <a:rPr lang="en-US" dirty="0"/>
              <a:t>However, </a:t>
            </a:r>
            <a:r>
              <a:rPr lang="en-US" b="1" dirty="0"/>
              <a:t>most of them do not integrate directly with domain-specific analytics systems, </a:t>
            </a:r>
            <a:r>
              <a:rPr lang="en-US" i="1" dirty="0"/>
              <a:t>which creates a gap that this study aims to address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50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problem is that data needed for decision-making is fragmented across multiple systems. </a:t>
            </a:r>
            <a:r>
              <a:rPr lang="en-US" b="1" dirty="0"/>
              <a:t>(multiple dashboards &amp; manual reporting )</a:t>
            </a:r>
          </a:p>
          <a:p>
            <a:endParaRPr lang="en-US" b="1" dirty="0"/>
          </a:p>
          <a:p>
            <a:r>
              <a:rPr lang="en-US" b="0" dirty="0"/>
              <a:t>Results into; </a:t>
            </a:r>
          </a:p>
          <a:p>
            <a:endParaRPr lang="en-US" b="0" dirty="0"/>
          </a:p>
          <a:p>
            <a:r>
              <a:rPr lang="en-US" b="0" dirty="0"/>
              <a:t>1. </a:t>
            </a:r>
            <a:r>
              <a:rPr lang="en-US" dirty="0"/>
              <a:t>delays because reporting is often manual.</a:t>
            </a:r>
          </a:p>
          <a:p>
            <a:endParaRPr lang="en-US" b="0" dirty="0"/>
          </a:p>
          <a:p>
            <a:r>
              <a:rPr lang="en-US" b="0" dirty="0"/>
              <a:t>2. I</a:t>
            </a:r>
            <a:r>
              <a:rPr lang="en-US" dirty="0"/>
              <a:t>ntroduces complexity, as users need technical skills to access and interpret the data</a:t>
            </a:r>
          </a:p>
          <a:p>
            <a:endParaRPr lang="en-US" b="0" dirty="0"/>
          </a:p>
          <a:p>
            <a:r>
              <a:rPr lang="en-US" b="0" dirty="0"/>
              <a:t>3.  Thereby making </a:t>
            </a:r>
            <a:r>
              <a:rPr lang="en-US" dirty="0"/>
              <a:t>decision-making slow and inefficient.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67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1.Bring together different types of dealer data, such as listings, leads, applications, and sales, into one unified view.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Build an intelligent assistant with agentic AI that helps users easily understand dealer performance without needing technical skills. (all the user needs to do is put in a request in plain English language)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the system ensures that all answers are accurate and based on real data by using structured retrieval and scoring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0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achieve these systems ;</a:t>
            </a:r>
          </a:p>
          <a:p>
            <a:pPr marL="228600" indent="-228600">
              <a:buAutoNum type="arabicPeriod"/>
            </a:pPr>
            <a:r>
              <a:rPr lang="en-US" dirty="0"/>
              <a:t>First, data preparation (data was constructed using Kaggle vehicle listings and extended with synthetic dealer activity such as leads, applications and sales )</a:t>
            </a:r>
          </a:p>
          <a:p>
            <a:pPr marL="228600" indent="-22860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Secondly, there is system development, two systems were built :</a:t>
            </a:r>
          </a:p>
          <a:p>
            <a:pPr marL="0" indent="0">
              <a:buNone/>
            </a:pPr>
            <a:r>
              <a:rPr lang="en-US" dirty="0"/>
              <a:t>. A baseline system </a:t>
            </a:r>
          </a:p>
          <a:p>
            <a:pPr marL="0" indent="0">
              <a:buNone/>
            </a:pPr>
            <a:r>
              <a:rPr lang="en-US" dirty="0"/>
              <a:t>  A proposed agentic AI system for comparison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Thirdly, we move to the tools integration where deterministic custom tools (explain deterministic)  such as database querying , dealer scoring  and chart generation were implemented to support agent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Evaluation set up </a:t>
            </a:r>
          </a:p>
          <a:p>
            <a:pPr marL="0" indent="0">
              <a:buNone/>
            </a:pPr>
            <a:r>
              <a:rPr lang="en-US" dirty="0"/>
              <a:t>. (both system were tested using the same database and a set of structured prompts ) </a:t>
            </a:r>
          </a:p>
          <a:p>
            <a:pPr marL="0" indent="0">
              <a:buNone/>
            </a:pPr>
            <a:r>
              <a:rPr lang="en-US" dirty="0"/>
              <a:t>. 13 natural language prompts (key analytical tasks)</a:t>
            </a:r>
          </a:p>
          <a:p>
            <a:pPr marL="0" indent="0">
              <a:buNone/>
            </a:pPr>
            <a:r>
              <a:rPr lang="en-US" dirty="0"/>
              <a:t>. Our ground of truth obtained directly from PostgreSQL </a:t>
            </a:r>
          </a:p>
          <a:p>
            <a:pPr marL="0" indent="0">
              <a:buNone/>
            </a:pPr>
            <a:r>
              <a:rPr lang="en-US" dirty="0"/>
              <a:t>. Both systems were compared using three metrics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06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 of the dataset was from 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a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public listings dataset was obtained from Kaggle and includes Malaysian car listings originally gathered from Oto. My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</a:rPr>
              <a:t>It had 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920 rows and 18 columns  covering fields such as vehicle price, date posted, title</a:t>
            </a:r>
          </a:p>
          <a:p>
            <a:endParaRPr lang="en-US" sz="1800" dirty="0">
              <a:effectLst/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With a python script , this public dataset was cleaned to suit that of Autochek Africa and extended into several other tables including leads, applications and sales  (reflective of the Autochek Africa data)</a:t>
            </a:r>
          </a:p>
          <a:p>
            <a:endParaRPr lang="en-US" sz="1800" dirty="0">
              <a:effectLst/>
              <a:latin typeface="Times New Roman" panose="02020603050405020304" pitchFamily="18" charset="0"/>
            </a:endParaRPr>
          </a:p>
          <a:p>
            <a:endParaRPr lang="en-US" dirty="0"/>
          </a:p>
          <a:p>
            <a:r>
              <a:rPr lang="en-US" dirty="0"/>
              <a:t>These were structured into a pipeline from listings to sales and stored in a PostgreSQL database.(dealer ai)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90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Insights on dealers performance</a:t>
            </a:r>
          </a:p>
          <a:p>
            <a:r>
              <a:rPr lang="en-US" dirty="0"/>
              <a:t>. The metrics captures different aspects of dealer performance , from actual sales to customer interest </a:t>
            </a:r>
          </a:p>
          <a:p>
            <a:endParaRPr lang="en-US" dirty="0"/>
          </a:p>
          <a:p>
            <a:r>
              <a:rPr lang="en-US" dirty="0"/>
              <a:t>. Since these metrics are on a different scale , I normalized to a range of 0-100(this ensures that all metrics are comparable and no single metric dominates due to its scale )</a:t>
            </a:r>
          </a:p>
          <a:p>
            <a:endParaRPr lang="en-US" dirty="0"/>
          </a:p>
          <a:p>
            <a:r>
              <a:rPr lang="en-US" dirty="0"/>
              <a:t>. After normalization , there was a weighted scoring applied </a:t>
            </a:r>
          </a:p>
          <a:p>
            <a:r>
              <a:rPr lang="en-US" dirty="0"/>
              <a:t>Sale = </a:t>
            </a:r>
          </a:p>
          <a:p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Finally, the overall dealer score is computed as a weighted average of these normalized metrics.</a:t>
            </a:r>
          </a:p>
          <a:p>
            <a:r>
              <a:rPr lang="en-US" dirty="0"/>
              <a:t>This approach ensures a balanced and fair evaluation of dealer performance.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75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baseline system is a rule-based system that operates using </a:t>
            </a:r>
            <a:r>
              <a:rPr lang="en-US" b="1" i="1" dirty="0"/>
              <a:t>predefined rules and fixed SQL query templates.</a:t>
            </a:r>
          </a:p>
          <a:p>
            <a:endParaRPr lang="en-US" b="1" i="1" dirty="0"/>
          </a:p>
          <a:p>
            <a:r>
              <a:rPr lang="en-US" dirty="0"/>
              <a:t>This means that for </a:t>
            </a:r>
            <a:r>
              <a:rPr lang="en-US" b="1" dirty="0"/>
              <a:t>each type of user request, the system has a specific pattern it recognizes and a corresponding SQL query that it executes</a:t>
            </a:r>
            <a:r>
              <a:rPr lang="en-US" dirty="0"/>
              <a:t>.</a:t>
            </a:r>
          </a:p>
          <a:p>
            <a:r>
              <a:rPr lang="en-US" dirty="0"/>
              <a:t>Because of this, the system produces deterministic outputs, </a:t>
            </a:r>
            <a:r>
              <a:rPr lang="en-US" b="1" dirty="0"/>
              <a:t>meaning that the same input will always result in the same output, with no variation.</a:t>
            </a:r>
          </a:p>
          <a:p>
            <a:endParaRPr lang="en-US" b="1" dirty="0"/>
          </a:p>
          <a:p>
            <a:r>
              <a:rPr lang="en-US" b="1" dirty="0"/>
              <a:t>Limitations </a:t>
            </a:r>
          </a:p>
          <a:p>
            <a:r>
              <a:rPr lang="en-US" i="1" dirty="0"/>
              <a:t>It can only handle queries that match its predefined patterns.</a:t>
            </a:r>
          </a:p>
          <a:p>
            <a:r>
              <a:rPr lang="en-US" dirty="0"/>
              <a:t>If a user asks a complex question, combines multiple conditions, or phrases the request in an unexpected way, the system cannot adapt and may fail to produce a correct response.</a:t>
            </a:r>
          </a:p>
          <a:p>
            <a:endParaRPr lang="en-US" dirty="0"/>
          </a:p>
          <a:p>
            <a:r>
              <a:rPr lang="en-US" dirty="0"/>
              <a:t>This highlights the rigidity of rule-based systems, as they lack flexibility and cannot generalize beyond predefined logic.</a:t>
            </a:r>
          </a:p>
          <a:p>
            <a:endParaRPr lang="en-US" b="1" dirty="0"/>
          </a:p>
          <a:p>
            <a:endParaRPr lang="en-US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019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proposed system is an agentic AI system that uses a Large Language Model as well as custom tools to interpret user queries. (the Agent is the brain , the tools are the hands (has an LLM fall back )</a:t>
            </a:r>
          </a:p>
          <a:p>
            <a:endParaRPr lang="en-US" dirty="0"/>
          </a:p>
          <a:p>
            <a:r>
              <a:rPr lang="en-US" dirty="0"/>
              <a:t>It does rely on predefined rules, the system understands user requests expressed in natural language, even when they are complex or phrased in different ways.</a:t>
            </a:r>
          </a:p>
          <a:p>
            <a:endParaRPr lang="en-US" dirty="0"/>
          </a:p>
          <a:p>
            <a:r>
              <a:rPr lang="en-US" dirty="0"/>
              <a:t>It then converts these requests into structured actions. For example, it may decide to retrieve data, compute dealer scores, or generate visualizations.</a:t>
            </a:r>
          </a:p>
          <a:p>
            <a:endParaRPr lang="en-US" dirty="0"/>
          </a:p>
          <a:p>
            <a:r>
              <a:rPr lang="en-US" dirty="0"/>
              <a:t>To do this, the system dynamically selects and calls specific tools such as database queries, scoring functions, and chart generation tools.</a:t>
            </a:r>
          </a:p>
          <a:p>
            <a:endParaRPr lang="en-US" dirty="0"/>
          </a:p>
          <a:p>
            <a:r>
              <a:rPr lang="en-US" dirty="0"/>
              <a:t>The key idea is that the Large Language Model handles the reasoning and decision-making process, while the tools ensure that all outputs are accurate, reliable, and grounded in real data.</a:t>
            </a:r>
          </a:p>
          <a:p>
            <a:endParaRPr lang="en-US" dirty="0"/>
          </a:p>
          <a:p>
            <a:r>
              <a:rPr lang="en-US" dirty="0"/>
              <a:t>This system involves Reasoning and 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01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1.The system works by first understanding the user’s request, </a:t>
            </a:r>
          </a:p>
          <a:p>
            <a:r>
              <a:rPr lang="en-US" dirty="0"/>
              <a:t>2.extracting key information such as metrics and time range, </a:t>
            </a:r>
          </a:p>
          <a:p>
            <a:r>
              <a:rPr lang="en-US" dirty="0"/>
              <a:t>3. retrieving the relevant data, and </a:t>
            </a:r>
          </a:p>
          <a:p>
            <a:r>
              <a:rPr lang="en-US" dirty="0"/>
              <a:t>4. then returning a clear response (in plain English language), optionally with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15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process begins at the user interface, where the user enters a query in natural language (plain English).</a:t>
            </a:r>
          </a:p>
          <a:p>
            <a:endParaRPr lang="en-US" dirty="0"/>
          </a:p>
          <a:p>
            <a:r>
              <a:rPr lang="en-US" dirty="0"/>
              <a:t>This query is then passed to the agent layer, powered by a Large Language Model, which interprets the request and determines the appropriate actions to take.</a:t>
            </a:r>
          </a:p>
          <a:p>
            <a:endParaRPr lang="en-US" dirty="0"/>
          </a:p>
          <a:p>
            <a:r>
              <a:rPr lang="en-US" dirty="0"/>
              <a:t>The agent does not execute tasks directly. Instead, it interacts with a set of predefined tools through a tool layer.</a:t>
            </a:r>
          </a:p>
          <a:p>
            <a:endParaRPr lang="en-US" dirty="0"/>
          </a:p>
          <a:p>
            <a:r>
              <a:rPr lang="en-US" dirty="0"/>
              <a:t>These tools include database querying for retrieving data, scoring functions for ranking dealers, and visualization tools for generating charts.</a:t>
            </a:r>
          </a:p>
          <a:p>
            <a:endParaRPr lang="en-US" dirty="0"/>
          </a:p>
          <a:p>
            <a:r>
              <a:rPr lang="en-US" dirty="0"/>
              <a:t>Each tool performs a specific, well-defined task to ensure accuracy and reliability.</a:t>
            </a:r>
          </a:p>
          <a:p>
            <a:endParaRPr lang="en-US" dirty="0"/>
          </a:p>
          <a:p>
            <a:r>
              <a:rPr lang="en-US" dirty="0"/>
              <a:t>The tools then interact with the PostgreSQL database, which serves as the central data source.</a:t>
            </a:r>
          </a:p>
          <a:p>
            <a:endParaRPr lang="en-US" dirty="0"/>
          </a:p>
          <a:p>
            <a:r>
              <a:rPr lang="en-US" dirty="0"/>
              <a:t>Finally, the results are returned through the same pipeline and presented to the user in a clear and structured format.</a:t>
            </a:r>
          </a:p>
          <a:p>
            <a:r>
              <a:rPr lang="en-US" dirty="0"/>
              <a:t>This architecture separates reasoning from execution, allowing the system to remain both flexible and accurate.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265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evaluation setup was designed to fairly compare the baseline system and the proposed agentic system.</a:t>
            </a:r>
          </a:p>
          <a:p>
            <a:r>
              <a:rPr lang="en-US" dirty="0"/>
              <a:t>Both systems were tested using the same dataset and under identical conditions to ensure consistency and eliminate bias.</a:t>
            </a:r>
          </a:p>
          <a:p>
            <a:endParaRPr lang="en-US" dirty="0"/>
          </a:p>
          <a:p>
            <a:r>
              <a:rPr lang="en-US" dirty="0"/>
              <a:t>A set of 13 structured natural language prompts was created to represent typical analytical tasks that a user might perform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These prompts included different types of queries, such as data retrieval, ranking, and multi-step analysis.</a:t>
            </a:r>
          </a:p>
          <a:p>
            <a:endParaRPr lang="en-US" dirty="0"/>
          </a:p>
          <a:p>
            <a:r>
              <a:rPr lang="en-US" dirty="0"/>
              <a:t>For each prompt, the expected correct result, or ground truth, was obtained directly from the PostgreSQL database.</a:t>
            </a:r>
          </a:p>
          <a:p>
            <a:r>
              <a:rPr lang="en-US" dirty="0"/>
              <a:t>This allowed us to objectively verify the correctness of each system’s output.</a:t>
            </a:r>
          </a:p>
          <a:p>
            <a:endParaRPr lang="en-US" dirty="0"/>
          </a:p>
          <a:p>
            <a:r>
              <a:rPr lang="en-US" dirty="0"/>
              <a:t>The systems were then evaluated using three key metrics: accuracy, task completion, and efficiency.</a:t>
            </a:r>
          </a:p>
          <a:p>
            <a:r>
              <a:rPr lang="en-US" dirty="0"/>
              <a:t>This setup ensures that the comparison is fair, reliable, and reflects real-world usage scenarios.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179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evaluate the performance of both systems, three key metrics were used: accuracy, task completion, and efficiency.</a:t>
            </a:r>
          </a:p>
          <a:p>
            <a:endParaRPr lang="en-US" dirty="0"/>
          </a:p>
          <a:p>
            <a:r>
              <a:rPr lang="en-US" dirty="0"/>
              <a:t>Accuracy measures whether the system returns the correct numerical result compared to the ground truth from the database.</a:t>
            </a:r>
          </a:p>
          <a:p>
            <a:endParaRPr lang="en-US" dirty="0"/>
          </a:p>
          <a:p>
            <a:r>
              <a:rPr lang="en-US" dirty="0"/>
              <a:t>Task completion evaluates how fully the system answers a query, especially for complex or multi-step requests.</a:t>
            </a:r>
          </a:p>
          <a:p>
            <a:endParaRPr lang="en-US" dirty="0"/>
          </a:p>
          <a:p>
            <a:r>
              <a:rPr lang="en-US" dirty="0"/>
              <a:t>Efficiency measures how many steps the system takes to arrive at a result, which reflects its computational cost and speed.</a:t>
            </a:r>
          </a:p>
          <a:p>
            <a:endParaRPr lang="en-US" dirty="0"/>
          </a:p>
          <a:p>
            <a:r>
              <a:rPr lang="en-US" dirty="0"/>
              <a:t>Together, these metrics provide a balanced evaluation by considering correctness, completeness, and performance.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070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presents the performance comparison between the baseline system and the proposed agentic system.</a:t>
            </a:r>
          </a:p>
          <a:p>
            <a:endParaRPr lang="en-US" dirty="0"/>
          </a:p>
          <a:p>
            <a:r>
              <a:rPr lang="en-US" dirty="0"/>
              <a:t>Both systems achieved 100% numeric accuracy, meaning they were able to return correct results when they successfully executed a query.</a:t>
            </a:r>
          </a:p>
          <a:p>
            <a:endParaRPr lang="en-US" dirty="0"/>
          </a:p>
          <a:p>
            <a:r>
              <a:rPr lang="en-US" dirty="0"/>
              <a:t>However, there is a clear difference in task completion.</a:t>
            </a:r>
            <a:br>
              <a:rPr lang="en-US" dirty="0"/>
            </a:br>
            <a:r>
              <a:rPr lang="en-US" dirty="0"/>
              <a:t>The agentic system achieved a higher completion rate, meaning it was able to fully answer more queries, especially complex and multi-step ones.</a:t>
            </a:r>
          </a:p>
          <a:p>
            <a:endParaRPr lang="en-US" dirty="0"/>
          </a:p>
          <a:p>
            <a:r>
              <a:rPr lang="en-US" dirty="0"/>
              <a:t>In terms of efficiency, the baseline system required fewer steps on average, making it faster for simple, predefined queries.</a:t>
            </a:r>
          </a:p>
          <a:p>
            <a:r>
              <a:rPr lang="en-US" dirty="0"/>
              <a:t>On the other hand, the agentic system required more steps because it performs reasoning and tool selection, but this allows it to handle more complex tasks.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8057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evaluation, several key findings were observed.</a:t>
            </a:r>
          </a:p>
          <a:p>
            <a:r>
              <a:rPr lang="en-US" dirty="0"/>
              <a:t>First, both systems achieved the same level of numeric accuracy, showing that they are both capable of producing correct results.</a:t>
            </a:r>
          </a:p>
          <a:p>
            <a:endParaRPr lang="en-US" dirty="0"/>
          </a:p>
          <a:p>
            <a:r>
              <a:rPr lang="en-US" dirty="0"/>
              <a:t>Second, the agentic system performed better in terms of task completion, as it was able to handle more complex and multi-step queries.</a:t>
            </a:r>
          </a:p>
          <a:p>
            <a:endParaRPr lang="en-US" dirty="0"/>
          </a:p>
          <a:p>
            <a:r>
              <a:rPr lang="en-US" dirty="0"/>
              <a:t>Third, the baseline system was more efficient, requiring fewer steps to produce results, but it was limited to simple and predefined queries.</a:t>
            </a:r>
          </a:p>
          <a:p>
            <a:endParaRPr lang="en-US" dirty="0"/>
          </a:p>
          <a:p>
            <a:r>
              <a:rPr lang="en-US" dirty="0"/>
              <a:t>Overall, this highlights a trade-off between efficiency and flexibility, where the agentic system provides more comprehensive analytical capabilities.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B9F07-970B-41B3-AE37-B3A8134D772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61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50442" y="9651111"/>
            <a:ext cx="258927" cy="25892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00373" y="9651111"/>
            <a:ext cx="258927" cy="25892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263693" y="1674732"/>
            <a:ext cx="4060820" cy="1111685"/>
          </a:xfrm>
          <a:custGeom>
            <a:avLst/>
            <a:gdLst/>
            <a:ahLst/>
            <a:cxnLst/>
            <a:rect l="l" t="t" r="r" b="b"/>
            <a:pathLst>
              <a:path w="4060820" h="1111685">
                <a:moveTo>
                  <a:pt x="0" y="0"/>
                </a:moveTo>
                <a:lnTo>
                  <a:pt x="4060820" y="0"/>
                </a:lnTo>
                <a:lnTo>
                  <a:pt x="4060820" y="1111686"/>
                </a:lnTo>
                <a:lnTo>
                  <a:pt x="0" y="11116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42817" y="3291243"/>
            <a:ext cx="15207626" cy="222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4800" b="1" spc="-432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DESIGN AND EVALUATION OF AN AGENTIC AI COPILOT FOR DEALER PERFORMANCE ANALYTICS AND REPORTING IN AUTOCHEK AFRICA</a:t>
            </a:r>
          </a:p>
          <a:p>
            <a:pPr marL="0" lvl="0" indent="0" algn="ctr">
              <a:lnSpc>
                <a:spcPts val="4320"/>
              </a:lnSpc>
            </a:pPr>
            <a:endParaRPr lang="en-US" sz="4800" b="1" spc="-432">
              <a:solidFill>
                <a:srgbClr val="DD5C50"/>
              </a:solidFill>
              <a:latin typeface="TT Fors Bold"/>
              <a:ea typeface="TT Fors Bold"/>
              <a:cs typeface="TT Fors Bold"/>
              <a:sym typeface="TT For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503831" y="8859520"/>
            <a:ext cx="4755469" cy="97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Regina Adobea Essien</a:t>
            </a:r>
          </a:p>
          <a:p>
            <a:pPr algn="r">
              <a:lnSpc>
                <a:spcPts val="3919"/>
              </a:lnSpc>
            </a:pPr>
            <a:endParaRPr lang="en-US" sz="2799" b="1">
              <a:solidFill>
                <a:srgbClr val="000000"/>
              </a:solidFill>
              <a:latin typeface="TT Fors Bold"/>
              <a:ea typeface="TT Fors Bold"/>
              <a:cs typeface="TT Fors Bold"/>
              <a:sym typeface="TT For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847249" y="8507095"/>
            <a:ext cx="2412051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19"/>
              </a:lnSpc>
              <a:spcBef>
                <a:spcPct val="0"/>
              </a:spcBef>
            </a:pPr>
            <a:r>
              <a:rPr lang="en-US" sz="2299" u="none" strike="noStrike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Presented by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03855" y="5284030"/>
            <a:ext cx="14285550" cy="108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2"/>
              </a:lnSpc>
            </a:pPr>
            <a:r>
              <a:rPr lang="en-US" sz="3200" b="1" i="1" spc="-80">
                <a:solidFill>
                  <a:srgbClr val="626262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Agentic AI for dealer analytics, scoring &amp; recommendations</a:t>
            </a:r>
          </a:p>
          <a:p>
            <a:pPr algn="ctr">
              <a:lnSpc>
                <a:spcPts val="4352"/>
              </a:lnSpc>
            </a:pPr>
            <a:endParaRPr lang="en-US" sz="3200" b="1" i="1" spc="-80">
              <a:solidFill>
                <a:srgbClr val="626262"/>
              </a:solidFill>
              <a:latin typeface="Open Sauce Bold Italics"/>
              <a:ea typeface="Open Sauce Bold Italics"/>
              <a:cs typeface="Open Sauce Bold Italics"/>
              <a:sym typeface="Open Sauce Bold Itali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51328" y="6333332"/>
            <a:ext cx="14285550" cy="398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2400" b="1" i="1" spc="-60">
                <a:solidFill>
                  <a:srgbClr val="626262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Supervisor : Dr. Grace Oletu   Co-Supervisor :  Mr. Jeremiah Ishaya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20548" y="931283"/>
            <a:ext cx="11438752" cy="1767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2960"/>
              </a:lnSpc>
            </a:pPr>
            <a:r>
              <a:rPr lang="en-US" sz="14400" b="1" spc="-1296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Overview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19440" y="2158258"/>
            <a:ext cx="258927" cy="25892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69370" y="2158258"/>
            <a:ext cx="258927" cy="25892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2699173"/>
            <a:ext cx="6217791" cy="1007509"/>
            <a:chOff x="0" y="0"/>
            <a:chExt cx="1637607" cy="2653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8542" y="5793405"/>
            <a:ext cx="6217791" cy="1007509"/>
            <a:chOff x="0" y="0"/>
            <a:chExt cx="1637607" cy="2653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4776370"/>
            <a:ext cx="6217791" cy="1007509"/>
            <a:chOff x="0" y="0"/>
            <a:chExt cx="1637607" cy="2653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760609" y="2727752"/>
            <a:ext cx="6217791" cy="1007509"/>
            <a:chOff x="0" y="0"/>
            <a:chExt cx="1637607" cy="26535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736441" y="3768861"/>
            <a:ext cx="6217791" cy="1007509"/>
            <a:chOff x="0" y="0"/>
            <a:chExt cx="1637607" cy="2653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760609" y="4871620"/>
            <a:ext cx="6217791" cy="1007509"/>
            <a:chOff x="0" y="0"/>
            <a:chExt cx="1637607" cy="2653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12290" y="2931536"/>
            <a:ext cx="1023158" cy="77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1"/>
              </a:lnSpc>
            </a:pPr>
            <a:r>
              <a:rPr lang="en-US" sz="6246" b="1" spc="-187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4532" y="4991443"/>
            <a:ext cx="1023158" cy="77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1"/>
              </a:lnSpc>
            </a:pPr>
            <a:r>
              <a:rPr lang="en-US" sz="6246" b="1" spc="-187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4374" y="5999472"/>
            <a:ext cx="1023158" cy="77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1"/>
              </a:lnSpc>
            </a:pPr>
            <a:r>
              <a:rPr lang="en-US" sz="6246" b="1" spc="-187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36441" y="2923761"/>
            <a:ext cx="1023158" cy="77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1"/>
              </a:lnSpc>
            </a:pPr>
            <a:r>
              <a:rPr lang="en-US" sz="6246" b="1" spc="-187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12273" y="3964871"/>
            <a:ext cx="1126416" cy="77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1"/>
              </a:lnSpc>
            </a:pPr>
            <a:r>
              <a:rPr lang="en-US" sz="6246" b="1" spc="-187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36441" y="5103109"/>
            <a:ext cx="1126416" cy="77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1"/>
              </a:lnSpc>
            </a:pPr>
            <a:r>
              <a:rPr lang="en-US" sz="6246" b="1" spc="-187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33902" y="3063103"/>
            <a:ext cx="3047698" cy="29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INTRODUCTION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326144" y="5167190"/>
            <a:ext cx="3047698" cy="29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PROBLEM STATEMENT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345986" y="6188608"/>
            <a:ext cx="3047698" cy="29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AIMS &amp; OBJECTIVES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58053" y="3123385"/>
            <a:ext cx="3047698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METHODOLOGY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33885" y="4164495"/>
            <a:ext cx="3047698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RESULTS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058053" y="5262648"/>
            <a:ext cx="3047698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CONCLUSION</a:t>
            </a:r>
          </a:p>
        </p:txBody>
      </p:sp>
      <p:sp>
        <p:nvSpPr>
          <p:cNvPr id="39" name="Freeform 39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1052868" y="3763832"/>
            <a:ext cx="6217791" cy="1007509"/>
            <a:chOff x="0" y="0"/>
            <a:chExt cx="1637607" cy="26535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036458" y="3996195"/>
            <a:ext cx="1023158" cy="77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1"/>
              </a:lnSpc>
            </a:pPr>
            <a:r>
              <a:rPr lang="en-US" sz="6246" b="1" spc="-187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358070" y="4127762"/>
            <a:ext cx="3047698" cy="29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LITERATURE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9440" y="2158258"/>
            <a:ext cx="258927" cy="25892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69370" y="2158258"/>
            <a:ext cx="258927" cy="25892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3372" y="2878636"/>
            <a:ext cx="9391072" cy="5898140"/>
            <a:chOff x="0" y="0"/>
            <a:chExt cx="2473369" cy="15534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73369" cy="1553420"/>
            </a:xfrm>
            <a:custGeom>
              <a:avLst/>
              <a:gdLst/>
              <a:ahLst/>
              <a:cxnLst/>
              <a:rect l="l" t="t" r="r" b="b"/>
              <a:pathLst>
                <a:path w="2473369" h="1553420">
                  <a:moveTo>
                    <a:pt x="0" y="0"/>
                  </a:moveTo>
                  <a:lnTo>
                    <a:pt x="2473369" y="0"/>
                  </a:lnTo>
                  <a:lnTo>
                    <a:pt x="2473369" y="1553420"/>
                  </a:lnTo>
                  <a:lnTo>
                    <a:pt x="0" y="15534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76200"/>
              <a:ext cx="2473369" cy="1477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17800" y="2616563"/>
            <a:ext cx="7441500" cy="6422286"/>
            <a:chOff x="0" y="0"/>
            <a:chExt cx="1152883" cy="9949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52883" cy="994980"/>
            </a:xfrm>
            <a:custGeom>
              <a:avLst/>
              <a:gdLst/>
              <a:ahLst/>
              <a:cxnLst/>
              <a:rect l="l" t="t" r="r" b="b"/>
              <a:pathLst>
                <a:path w="1152883" h="994980">
                  <a:moveTo>
                    <a:pt x="0" y="0"/>
                  </a:moveTo>
                  <a:lnTo>
                    <a:pt x="1152883" y="0"/>
                  </a:lnTo>
                  <a:lnTo>
                    <a:pt x="1152883" y="994980"/>
                  </a:lnTo>
                  <a:lnTo>
                    <a:pt x="0" y="994980"/>
                  </a:lnTo>
                  <a:close/>
                </a:path>
              </a:pathLst>
            </a:custGeom>
            <a:blipFill>
              <a:blip r:embed="rId3"/>
              <a:stretch>
                <a:fillRect t="-5110" b="-511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524042" y="3752082"/>
            <a:ext cx="258927" cy="25892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4042" y="5568779"/>
            <a:ext cx="258927" cy="25892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24042" y="7389806"/>
            <a:ext cx="258927" cy="258927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266538" y="419100"/>
            <a:ext cx="12992762" cy="1767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2960"/>
              </a:lnSpc>
            </a:pPr>
            <a:r>
              <a:rPr lang="en-US" sz="14400" b="1" spc="-1296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Introduction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01712" y="3308775"/>
            <a:ext cx="7377755" cy="1217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 today’s data-driven organizations, timely access to accurate information is essential for effective decision-making.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01712" y="4994939"/>
            <a:ext cx="7516089" cy="1627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However, data is often fragmented across multiple systems and dashboards, and reporting requires manual effort and technical skills.</a:t>
            </a:r>
          </a:p>
          <a:p>
            <a:pPr algn="l"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301712" y="6946154"/>
            <a:ext cx="7547254" cy="20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This project introduces an intelligent assistant that allows users to ask questions in plain language and receive instant, reliable insights from a unified data source.</a:t>
            </a:r>
          </a:p>
          <a:p>
            <a:pPr algn="l"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696823" y="9201150"/>
            <a:ext cx="11900420" cy="48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Simplifying data access. Accelerating decisions. Empowering people.</a:t>
            </a:r>
          </a:p>
        </p:txBody>
      </p:sp>
      <p:sp>
        <p:nvSpPr>
          <p:cNvPr id="27" name="Freeform 27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5033107" y="9220200"/>
            <a:ext cx="2467336" cy="398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4"/>
              </a:lnSpc>
              <a:spcBef>
                <a:spcPct val="0"/>
              </a:spcBef>
            </a:pPr>
            <a:r>
              <a:rPr lang="en-US" sz="2400" spc="-6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source; Author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9440" y="2158258"/>
            <a:ext cx="258927" cy="25892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69370" y="2158258"/>
            <a:ext cx="258927" cy="25892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3372" y="1827935"/>
            <a:ext cx="16990328" cy="8459065"/>
            <a:chOff x="0" y="0"/>
            <a:chExt cx="4474819" cy="22279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74819" cy="2227902"/>
            </a:xfrm>
            <a:custGeom>
              <a:avLst/>
              <a:gdLst/>
              <a:ahLst/>
              <a:cxnLst/>
              <a:rect l="l" t="t" r="r" b="b"/>
              <a:pathLst>
                <a:path w="4474819" h="2227902">
                  <a:moveTo>
                    <a:pt x="0" y="0"/>
                  </a:moveTo>
                  <a:lnTo>
                    <a:pt x="4474819" y="0"/>
                  </a:lnTo>
                  <a:lnTo>
                    <a:pt x="4474819" y="2227902"/>
                  </a:lnTo>
                  <a:lnTo>
                    <a:pt x="0" y="222790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76200"/>
              <a:ext cx="4474819" cy="2151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78367" y="2287721"/>
            <a:ext cx="258927" cy="25892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78367" y="3963543"/>
            <a:ext cx="258927" cy="25892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9370" y="5584545"/>
            <a:ext cx="258927" cy="25892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719703" y="419100"/>
            <a:ext cx="14539597" cy="176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2960"/>
              </a:lnSpc>
            </a:pPr>
            <a:r>
              <a:rPr lang="en-US" sz="14400" b="1" spc="-1296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Literature Review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24110" y="2148840"/>
            <a:ext cx="14957588" cy="1627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b="1" spc="-60">
                <a:solidFill>
                  <a:srgbClr val="62626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Agentic AI Systems &amp; Taxonomy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Provides a structured understanding of AI agents, their capabilities, and challenges in real-world applications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(Sapkota et al., 2025)</a:t>
            </a:r>
          </a:p>
          <a:p>
            <a:pPr algn="l">
              <a:lnSpc>
                <a:spcPts val="3264"/>
              </a:lnSpc>
            </a:pPr>
            <a:endParaRPr lang="en-US" sz="2400" spc="-6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124110" y="3925443"/>
            <a:ext cx="14957588" cy="1218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b="1" spc="-60">
                <a:solidFill>
                  <a:srgbClr val="62626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LLM-based Autonomous Agents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Demonstrates how large language models can act as autonomous agents for complex task execution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(Wang et al., 2025)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24110" y="5429389"/>
            <a:ext cx="14779986" cy="1218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b="1" spc="-60">
                <a:solidFill>
                  <a:srgbClr val="62626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Tool-Augmented Reasoning (ReAct Framework)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Combines reasoning and tool usage to improve accuracy and grounded decision-making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(Yao et al., 2023)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8903" y="8794470"/>
            <a:ext cx="16336121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Existing approaches either focus on analytics or intelligent agents, motivating the need for a unified agentic system for dealer performance analysis.</a:t>
            </a:r>
          </a:p>
        </p:txBody>
      </p:sp>
      <p:sp>
        <p:nvSpPr>
          <p:cNvPr id="25" name="Freeform 25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088542" y="7119213"/>
            <a:ext cx="15170758" cy="1218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b="1" spc="-60">
                <a:solidFill>
                  <a:srgbClr val="62626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Multi-Agent &amp; Tool Integration Systems (AutoGen)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"/>
                <a:ea typeface="Open Sauce"/>
                <a:cs typeface="Open Sauce"/>
                <a:sym typeface="Open Sauce"/>
              </a:rPr>
              <a:t> Enables LLMs to interact with tools and collaborate to solve complex analytical tasks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"/>
                <a:ea typeface="Open Sauce"/>
                <a:cs typeface="Open Sauce"/>
                <a:sym typeface="Open Sauce"/>
              </a:rPr>
              <a:t>(Wu et al., 2023)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607830" y="7157313"/>
            <a:ext cx="258927" cy="25892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98834" y="931283"/>
            <a:ext cx="15560466" cy="1767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2960"/>
              </a:lnSpc>
            </a:pPr>
            <a:r>
              <a:rPr lang="en-US" sz="14400" b="1" spc="-1296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Problem Statement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2500" y="2158258"/>
            <a:ext cx="258927" cy="25892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02431" y="2158258"/>
            <a:ext cx="258927" cy="25892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57250" y="4983782"/>
            <a:ext cx="16580799" cy="3380270"/>
            <a:chOff x="0" y="0"/>
            <a:chExt cx="4366960" cy="8902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66959" cy="890277"/>
            </a:xfrm>
            <a:custGeom>
              <a:avLst/>
              <a:gdLst/>
              <a:ahLst/>
              <a:cxnLst/>
              <a:rect l="l" t="t" r="r" b="b"/>
              <a:pathLst>
                <a:path w="4366959" h="890277">
                  <a:moveTo>
                    <a:pt x="0" y="0"/>
                  </a:moveTo>
                  <a:lnTo>
                    <a:pt x="4366959" y="0"/>
                  </a:lnTo>
                  <a:lnTo>
                    <a:pt x="4366959" y="890277"/>
                  </a:lnTo>
                  <a:lnTo>
                    <a:pt x="0" y="89027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76200"/>
              <a:ext cx="4366960" cy="814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79613" y="5374271"/>
            <a:ext cx="899839" cy="667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4"/>
              </a:lnSpc>
            </a:pPr>
            <a:r>
              <a:rPr lang="en-US" sz="5493" b="1" spc="-16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82037" y="5374271"/>
            <a:ext cx="899839" cy="667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4"/>
              </a:lnSpc>
            </a:pPr>
            <a:r>
              <a:rPr lang="en-US" sz="5493" b="1" spc="-16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2.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91178" y="5518826"/>
            <a:ext cx="2827430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DATA SCATTERED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93602" y="5518826"/>
            <a:ext cx="2827430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TIME DELAY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79613" y="6384633"/>
            <a:ext cx="4795011" cy="80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Data is spread across multiple systems and dashboards.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82037" y="6384633"/>
            <a:ext cx="4444812" cy="1217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Generating insights requires manual effort, which delays access to important information.</a:t>
            </a:r>
          </a:p>
        </p:txBody>
      </p:sp>
      <p:sp>
        <p:nvSpPr>
          <p:cNvPr id="18" name="AutoShape 18"/>
          <p:cNvSpPr/>
          <p:nvPr/>
        </p:nvSpPr>
        <p:spPr>
          <a:xfrm flipV="1">
            <a:off x="6617410" y="5442626"/>
            <a:ext cx="0" cy="234448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892100" y="2661073"/>
            <a:ext cx="15367200" cy="20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b="1" spc="-60">
                <a:solidFill>
                  <a:srgbClr val="62626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needed for decision-making is spread across multiple systems, making it difficult and time-consuming to access.</a:t>
            </a:r>
          </a:p>
          <a:p>
            <a:pPr algn="l">
              <a:lnSpc>
                <a:spcPts val="3264"/>
              </a:lnSpc>
            </a:pPr>
            <a:r>
              <a:rPr lang="en-US" sz="2400" b="1" spc="-60">
                <a:solidFill>
                  <a:srgbClr val="62626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Reporting often requires manual effort and technical expertise, which delays insights and reduces efficiency.</a:t>
            </a:r>
          </a:p>
          <a:p>
            <a:pPr algn="l">
              <a:lnSpc>
                <a:spcPts val="3264"/>
              </a:lnSpc>
            </a:pPr>
            <a:endParaRPr lang="en-US" sz="2400" b="1" spc="-60">
              <a:solidFill>
                <a:srgbClr val="626262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814488" y="5374271"/>
            <a:ext cx="899839" cy="66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4"/>
              </a:lnSpc>
            </a:pPr>
            <a:r>
              <a:rPr lang="en-US" sz="5493" b="1" spc="-16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3.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26053" y="5518826"/>
            <a:ext cx="2827430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COMPLEXITY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14488" y="6384633"/>
            <a:ext cx="4444812" cy="1217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Understanding the data often requires technical skills, limiting who can use it effectively.</a:t>
            </a:r>
          </a:p>
        </p:txBody>
      </p:sp>
      <p:sp>
        <p:nvSpPr>
          <p:cNvPr id="23" name="AutoShape 23"/>
          <p:cNvSpPr/>
          <p:nvPr/>
        </p:nvSpPr>
        <p:spPr>
          <a:xfrm flipV="1">
            <a:off x="12127310" y="5442626"/>
            <a:ext cx="0" cy="234448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Freeform 24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48245" y="2793538"/>
            <a:ext cx="258927" cy="25892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398175" y="2793538"/>
            <a:ext cx="258927" cy="25892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528242" y="3668211"/>
            <a:ext cx="6461556" cy="5062835"/>
            <a:chOff x="0" y="0"/>
            <a:chExt cx="1001064" cy="7843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1064" cy="784366"/>
            </a:xfrm>
            <a:custGeom>
              <a:avLst/>
              <a:gdLst/>
              <a:ahLst/>
              <a:cxnLst/>
              <a:rect l="l" t="t" r="r" b="b"/>
              <a:pathLst>
                <a:path w="1001064" h="784366">
                  <a:moveTo>
                    <a:pt x="0" y="0"/>
                  </a:moveTo>
                  <a:lnTo>
                    <a:pt x="1001064" y="0"/>
                  </a:lnTo>
                  <a:lnTo>
                    <a:pt x="1001064" y="784366"/>
                  </a:lnTo>
                  <a:lnTo>
                    <a:pt x="0" y="784366"/>
                  </a:lnTo>
                  <a:close/>
                </a:path>
              </a:pathLst>
            </a:custGeom>
            <a:blipFill>
              <a:blip r:embed="rId3"/>
              <a:stretch>
                <a:fillRect l="-8801" r="-8801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3025169" y="718805"/>
            <a:ext cx="12579430" cy="176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960"/>
              </a:lnSpc>
            </a:pPr>
            <a:r>
              <a:rPr lang="en-US" sz="14400" b="1" spc="-1296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Objectives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19037" y="2486645"/>
            <a:ext cx="11013954" cy="7515431"/>
            <a:chOff x="0" y="0"/>
            <a:chExt cx="2900795" cy="19793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00795" cy="1979373"/>
            </a:xfrm>
            <a:custGeom>
              <a:avLst/>
              <a:gdLst/>
              <a:ahLst/>
              <a:cxnLst/>
              <a:rect l="l" t="t" r="r" b="b"/>
              <a:pathLst>
                <a:path w="2900795" h="1979373">
                  <a:moveTo>
                    <a:pt x="0" y="0"/>
                  </a:moveTo>
                  <a:lnTo>
                    <a:pt x="2900795" y="0"/>
                  </a:lnTo>
                  <a:lnTo>
                    <a:pt x="2900795" y="1979373"/>
                  </a:lnTo>
                  <a:lnTo>
                    <a:pt x="0" y="197937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76200"/>
              <a:ext cx="2900795" cy="1903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0418" y="2573624"/>
            <a:ext cx="10035885" cy="7860793"/>
            <a:chOff x="0" y="0"/>
            <a:chExt cx="13381180" cy="10481058"/>
          </a:xfrm>
        </p:grpSpPr>
        <p:sp>
          <p:nvSpPr>
            <p:cNvPr id="15" name="TextBox 15"/>
            <p:cNvSpPr txBox="1"/>
            <p:nvPr/>
          </p:nvSpPr>
          <p:spPr>
            <a:xfrm>
              <a:off x="578898" y="-47625"/>
              <a:ext cx="12802282" cy="536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2"/>
                </a:lnSpc>
              </a:pPr>
              <a:r>
                <a:rPr lang="en-US" sz="2459" b="1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This study aims to design an Agentic AI Copilot that: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51184"/>
              <a:ext cx="13381180" cy="100298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44"/>
                </a:lnSpc>
              </a:pPr>
              <a:r>
                <a:rPr lang="en-US" sz="2459" spc="-61">
                  <a:solidFill>
                    <a:srgbClr val="DD5C5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●</a:t>
              </a:r>
              <a:r>
                <a:rPr lang="en-US" sz="2459" spc="-61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To create a unified dealer performance view by integrating listings, leads, applications and sales into a  consistent dealer-level overview</a:t>
              </a:r>
            </a:p>
            <a:p>
              <a:pPr algn="l">
                <a:lnSpc>
                  <a:spcPts val="3344"/>
                </a:lnSpc>
              </a:pPr>
              <a:endParaRPr lang="en-US" sz="2459" spc="-61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endParaRPr>
            </a:p>
            <a:p>
              <a:pPr algn="l">
                <a:lnSpc>
                  <a:spcPts val="3344"/>
                </a:lnSpc>
              </a:pPr>
              <a:r>
                <a:rPr lang="en-US" sz="2459" spc="-61">
                  <a:solidFill>
                    <a:srgbClr val="DD5C5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●</a:t>
              </a:r>
              <a:r>
                <a:rPr lang="en-US" sz="2459" spc="-61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To design and implement an agentic AI system that can interpret user requests, plan the necessary steps and retrieve dealer operations data from a database </a:t>
              </a:r>
            </a:p>
            <a:p>
              <a:pPr algn="l">
                <a:lnSpc>
                  <a:spcPts val="3344"/>
                </a:lnSpc>
              </a:pPr>
              <a:endParaRPr lang="en-US" sz="2459" spc="-61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endParaRPr>
            </a:p>
            <a:p>
              <a:pPr algn="l">
                <a:lnSpc>
                  <a:spcPts val="3344"/>
                </a:lnSpc>
              </a:pPr>
              <a:r>
                <a:rPr lang="en-US" sz="2459" spc="-61">
                  <a:solidFill>
                    <a:srgbClr val="DD5C5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●</a:t>
              </a:r>
              <a:r>
                <a:rPr lang="en-US" sz="2459" spc="-61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 To implement data-grounded reasoning through retrieval and scoring with traceable  explanations</a:t>
              </a:r>
            </a:p>
            <a:p>
              <a:pPr algn="l">
                <a:lnSpc>
                  <a:spcPts val="3344"/>
                </a:lnSpc>
              </a:pPr>
              <a:endParaRPr lang="en-US" sz="2459" spc="-61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endParaRPr>
            </a:p>
            <a:p>
              <a:pPr algn="l">
                <a:lnSpc>
                  <a:spcPts val="3344"/>
                </a:lnSpc>
              </a:pPr>
              <a:r>
                <a:rPr lang="en-US" sz="2459" spc="-61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● To establish an appropriate non-agent baseline and compare it to the proposed agentic approach</a:t>
              </a:r>
            </a:p>
            <a:p>
              <a:pPr algn="l">
                <a:lnSpc>
                  <a:spcPts val="3344"/>
                </a:lnSpc>
              </a:pPr>
              <a:endParaRPr lang="en-US" sz="2459" spc="-61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endParaRPr>
            </a:p>
            <a:p>
              <a:pPr algn="l">
                <a:lnSpc>
                  <a:spcPts val="3344"/>
                </a:lnSpc>
              </a:pPr>
              <a:r>
                <a:rPr lang="en-US" sz="2459" spc="-61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● To design a frontend interface(chatbot) for bot the baseline system and the proposed system for prompting</a:t>
              </a:r>
            </a:p>
            <a:p>
              <a:pPr algn="l">
                <a:lnSpc>
                  <a:spcPts val="3344"/>
                </a:lnSpc>
              </a:pPr>
              <a:endParaRPr lang="en-US" sz="2459" spc="-61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endParaRPr>
            </a:p>
            <a:p>
              <a:pPr algn="l">
                <a:lnSpc>
                  <a:spcPts val="3344"/>
                </a:lnSpc>
              </a:pPr>
              <a:endParaRPr lang="en-US" sz="2459" spc="-61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endParaRPr>
            </a:p>
            <a:p>
              <a:pPr algn="l">
                <a:lnSpc>
                  <a:spcPts val="3344"/>
                </a:lnSpc>
              </a:pPr>
              <a:endParaRPr lang="en-US" sz="2459" spc="-61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81494" y="1215283"/>
            <a:ext cx="7762506" cy="1277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4"/>
              </a:lnSpc>
            </a:pPr>
            <a:r>
              <a:rPr lang="en-US" sz="10283" b="1" spc="-925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Methodology</a:t>
            </a:r>
          </a:p>
        </p:txBody>
      </p:sp>
      <p:sp>
        <p:nvSpPr>
          <p:cNvPr id="3" name="Freeform 3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250296" y="2665890"/>
            <a:ext cx="10862394" cy="6327179"/>
          </a:xfrm>
          <a:custGeom>
            <a:avLst/>
            <a:gdLst/>
            <a:ahLst/>
            <a:cxnLst/>
            <a:rect l="l" t="t" r="r" b="b"/>
            <a:pathLst>
              <a:path w="10862394" h="6327179">
                <a:moveTo>
                  <a:pt x="0" y="0"/>
                </a:moveTo>
                <a:lnTo>
                  <a:pt x="10862395" y="0"/>
                </a:lnTo>
                <a:lnTo>
                  <a:pt x="10862395" y="6327180"/>
                </a:lnTo>
                <a:lnTo>
                  <a:pt x="0" y="6327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1" r="-43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81494" y="2569103"/>
            <a:ext cx="6500759" cy="30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400" b="1" spc="-62" dirty="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SYSTEM 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5536" y="3214304"/>
            <a:ext cx="5634760" cy="4196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64"/>
              </a:lnSpc>
            </a:pPr>
            <a:r>
              <a:rPr lang="en-US" sz="2400" spc="-60" dirty="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Fair comparison of two systems:</a:t>
            </a:r>
          </a:p>
          <a:p>
            <a:pPr algn="just">
              <a:lnSpc>
                <a:spcPts val="3264"/>
              </a:lnSpc>
            </a:pP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   </a:t>
            </a:r>
            <a:r>
              <a:rPr lang="en-US" sz="2400" spc="-60" dirty="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○ </a:t>
            </a: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Baseline (rule-based)</a:t>
            </a:r>
          </a:p>
          <a:p>
            <a:pPr algn="just">
              <a:lnSpc>
                <a:spcPts val="3264"/>
              </a:lnSpc>
            </a:pP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   </a:t>
            </a:r>
            <a:r>
              <a:rPr lang="en-US" sz="2400" spc="-60" dirty="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○ </a:t>
            </a: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Proposed agentic system</a:t>
            </a:r>
          </a:p>
          <a:p>
            <a:pPr algn="just"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just">
              <a:lnSpc>
                <a:spcPts val="3264"/>
              </a:lnSpc>
            </a:pPr>
            <a:r>
              <a:rPr lang="en-US" sz="2400" spc="-60" dirty="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</a:t>
            </a: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Using  the same dataset </a:t>
            </a:r>
          </a:p>
          <a:p>
            <a:pPr algn="just">
              <a:lnSpc>
                <a:spcPts val="3264"/>
              </a:lnSpc>
            </a:pPr>
            <a:r>
              <a:rPr lang="en-US" sz="2400" spc="-60" dirty="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</a:t>
            </a: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Using  the same evaluation prompt</a:t>
            </a:r>
          </a:p>
          <a:p>
            <a:pPr algn="just">
              <a:lnSpc>
                <a:spcPts val="3264"/>
              </a:lnSpc>
            </a:pP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</a:t>
            </a:r>
            <a:r>
              <a:rPr lang="en-US" sz="2400" spc="-60" dirty="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</a:t>
            </a: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Using  the objective ground truth from the database</a:t>
            </a:r>
          </a:p>
          <a:p>
            <a:pPr algn="just"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just"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420403" y="9039796"/>
            <a:ext cx="2467336" cy="398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4"/>
              </a:lnSpc>
              <a:spcBef>
                <a:spcPct val="0"/>
              </a:spcBef>
            </a:pPr>
            <a:r>
              <a:rPr lang="en-US" sz="2400" spc="-6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source; Author</a:t>
            </a:r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6C4C442B-E7AE-4FA8-B6F8-D1BF1F24FAF9}"/>
              </a:ext>
            </a:extLst>
          </p:cNvPr>
          <p:cNvSpPr/>
          <p:nvPr/>
        </p:nvSpPr>
        <p:spPr>
          <a:xfrm>
            <a:off x="6402696" y="2818290"/>
            <a:ext cx="10862394" cy="6327179"/>
          </a:xfrm>
          <a:custGeom>
            <a:avLst/>
            <a:gdLst/>
            <a:ahLst/>
            <a:cxnLst/>
            <a:rect l="l" t="t" r="r" b="b"/>
            <a:pathLst>
              <a:path w="10862394" h="6327179">
                <a:moveTo>
                  <a:pt x="0" y="0"/>
                </a:moveTo>
                <a:lnTo>
                  <a:pt x="10862395" y="0"/>
                </a:lnTo>
                <a:lnTo>
                  <a:pt x="10862395" y="6327180"/>
                </a:lnTo>
                <a:lnTo>
                  <a:pt x="0" y="6327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1" r="-431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09645" y="3193573"/>
            <a:ext cx="9084647" cy="5898140"/>
            <a:chOff x="0" y="0"/>
            <a:chExt cx="2392664" cy="15534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92664" cy="1553420"/>
            </a:xfrm>
            <a:custGeom>
              <a:avLst/>
              <a:gdLst/>
              <a:ahLst/>
              <a:cxnLst/>
              <a:rect l="l" t="t" r="r" b="b"/>
              <a:pathLst>
                <a:path w="2392664" h="1553420">
                  <a:moveTo>
                    <a:pt x="0" y="0"/>
                  </a:moveTo>
                  <a:lnTo>
                    <a:pt x="2392664" y="0"/>
                  </a:lnTo>
                  <a:lnTo>
                    <a:pt x="2392664" y="1553420"/>
                  </a:lnTo>
                  <a:lnTo>
                    <a:pt x="0" y="15534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2392664" cy="1477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17612" y="3887520"/>
            <a:ext cx="9561612" cy="4510247"/>
            <a:chOff x="0" y="0"/>
            <a:chExt cx="1481344" cy="6987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81344" cy="698755"/>
            </a:xfrm>
            <a:custGeom>
              <a:avLst/>
              <a:gdLst/>
              <a:ahLst/>
              <a:cxnLst/>
              <a:rect l="l" t="t" r="r" b="b"/>
              <a:pathLst>
                <a:path w="1481344" h="698755">
                  <a:moveTo>
                    <a:pt x="0" y="0"/>
                  </a:moveTo>
                  <a:lnTo>
                    <a:pt x="1481344" y="0"/>
                  </a:lnTo>
                  <a:lnTo>
                    <a:pt x="1481344" y="698755"/>
                  </a:lnTo>
                  <a:lnTo>
                    <a:pt x="0" y="698755"/>
                  </a:lnTo>
                  <a:close/>
                </a:path>
              </a:pathLst>
            </a:custGeom>
            <a:blipFill>
              <a:blip r:embed="rId3"/>
              <a:stretch>
                <a:fillRect t="-55998" b="-5599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514350" y="1447800"/>
            <a:ext cx="17259300" cy="1767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960"/>
              </a:lnSpc>
            </a:pPr>
            <a:r>
              <a:rPr lang="en-US" sz="14400" b="1" spc="-1296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Dataset Construction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60849" y="3656140"/>
            <a:ext cx="7316515" cy="80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Base dataset from Kaggle vehicle listings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Extended with synthetic dealer activity data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060849" y="4901108"/>
            <a:ext cx="6179457" cy="2095328"/>
            <a:chOff x="0" y="0"/>
            <a:chExt cx="8239276" cy="279377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636560"/>
              <a:ext cx="8065248" cy="2157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64"/>
                </a:lnSpc>
              </a:pPr>
              <a:r>
                <a:rPr lang="en-US" sz="2400" spc="-60">
                  <a:solidFill>
                    <a:srgbClr val="DD5C5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● </a:t>
              </a:r>
              <a:r>
                <a:rPr lang="en-US" sz="2400" spc="-60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Leads</a:t>
              </a:r>
            </a:p>
            <a:p>
              <a:pPr algn="l">
                <a:lnSpc>
                  <a:spcPts val="3264"/>
                </a:lnSpc>
              </a:pPr>
              <a:r>
                <a:rPr lang="en-US" sz="2400" spc="-60">
                  <a:solidFill>
                    <a:srgbClr val="DD5C5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● </a:t>
              </a:r>
              <a:r>
                <a:rPr lang="en-US" sz="2400" spc="-60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Applications</a:t>
              </a:r>
            </a:p>
            <a:p>
              <a:pPr algn="l">
                <a:lnSpc>
                  <a:spcPts val="3264"/>
                </a:lnSpc>
              </a:pPr>
              <a:r>
                <a:rPr lang="en-US" sz="2400" spc="-60">
                  <a:solidFill>
                    <a:srgbClr val="DD5C5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● </a:t>
              </a:r>
              <a:r>
                <a:rPr lang="en-US" sz="2400" spc="-60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Sales</a:t>
              </a:r>
            </a:p>
            <a:p>
              <a:pPr algn="l">
                <a:lnSpc>
                  <a:spcPts val="3264"/>
                </a:lnSpc>
              </a:pPr>
              <a:endPara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3697" y="-38100"/>
              <a:ext cx="7815579" cy="515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Synthetic data includes: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60849" y="7232037"/>
            <a:ext cx="6901922" cy="2042699"/>
            <a:chOff x="0" y="0"/>
            <a:chExt cx="9202563" cy="272359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566387"/>
              <a:ext cx="9202563" cy="2157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64"/>
                </a:lnSpc>
              </a:pPr>
              <a:r>
                <a:rPr lang="en-US" sz="2400" spc="-60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Listings → Leads → Applications → Sales</a:t>
              </a:r>
            </a:p>
            <a:p>
              <a:pPr algn="l">
                <a:lnSpc>
                  <a:spcPts val="3264"/>
                </a:lnSpc>
              </a:pPr>
              <a:endPara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endParaRPr>
            </a:p>
            <a:p>
              <a:pPr algn="l">
                <a:lnSpc>
                  <a:spcPts val="3264"/>
                </a:lnSpc>
              </a:pPr>
              <a:r>
                <a:rPr lang="en-US" sz="2400" spc="-60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Integration into a PostgreSQL database </a:t>
              </a:r>
            </a:p>
            <a:p>
              <a:pPr algn="l">
                <a:lnSpc>
                  <a:spcPts val="3264"/>
                </a:lnSpc>
              </a:pPr>
              <a:endPara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7112" y="-38100"/>
              <a:ext cx="5280102" cy="515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Data pipeline: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514350" y="1447800"/>
            <a:ext cx="17259300" cy="161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960"/>
              </a:lnSpc>
            </a:pPr>
            <a:r>
              <a:rPr lang="en-US" sz="9600" b="1" spc="-1296" dirty="0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Dealer Scoring Method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0636" y="3574431"/>
            <a:ext cx="7316515" cy="5043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Four Performance Metric Uses :</a:t>
            </a:r>
          </a:p>
          <a:p>
            <a:pPr algn="l">
              <a:lnSpc>
                <a:spcPts val="3264"/>
              </a:lnSpc>
            </a:pPr>
            <a:r>
              <a:rPr lang="en-US" sz="2400" spc="-60" dirty="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Sales Performance </a:t>
            </a:r>
          </a:p>
          <a:p>
            <a:pPr>
              <a:lnSpc>
                <a:spcPts val="3264"/>
              </a:lnSpc>
            </a:pPr>
            <a:r>
              <a:rPr lang="en-US" sz="2400" spc="-60" dirty="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Inventory Activity</a:t>
            </a:r>
          </a:p>
          <a:p>
            <a:pPr>
              <a:lnSpc>
                <a:spcPts val="3264"/>
              </a:lnSpc>
            </a:pPr>
            <a:r>
              <a:rPr lang="en-US" sz="2400" spc="-60" dirty="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Application Volume</a:t>
            </a:r>
          </a:p>
          <a:p>
            <a:pPr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>
              <a:lnSpc>
                <a:spcPts val="3264"/>
              </a:lnSpc>
            </a:pP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Each metric is normalized to a 0-100 scale :</a:t>
            </a:r>
          </a:p>
          <a:p>
            <a:pPr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l"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5B03E8-4AE4-4254-B9E9-B6F73D79C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6769409"/>
            <a:ext cx="83534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5BBACE49-8321-453F-9400-281512BC9192}"/>
              </a:ext>
            </a:extLst>
          </p:cNvPr>
          <p:cNvSpPr txBox="1"/>
          <p:nvPr/>
        </p:nvSpPr>
        <p:spPr>
          <a:xfrm>
            <a:off x="9144000" y="3345355"/>
            <a:ext cx="7316515" cy="5043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Weighted scoring : </a:t>
            </a:r>
          </a:p>
          <a:p>
            <a:pPr algn="l">
              <a:lnSpc>
                <a:spcPts val="3264"/>
              </a:lnSpc>
            </a:pPr>
            <a:r>
              <a:rPr lang="en-US" sz="2400" spc="-60" dirty="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Sales = 0.40</a:t>
            </a:r>
          </a:p>
          <a:p>
            <a:pPr>
              <a:lnSpc>
                <a:spcPts val="3264"/>
              </a:lnSpc>
            </a:pPr>
            <a:r>
              <a:rPr lang="en-US" sz="2400" spc="-60" dirty="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Inventory = 0.25</a:t>
            </a:r>
          </a:p>
          <a:p>
            <a:pPr>
              <a:lnSpc>
                <a:spcPts val="3264"/>
              </a:lnSpc>
            </a:pPr>
            <a:r>
              <a:rPr lang="en-US" sz="2400" spc="-60" dirty="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Application  = 0.25</a:t>
            </a:r>
          </a:p>
          <a:p>
            <a:pPr>
              <a:lnSpc>
                <a:spcPts val="3264"/>
              </a:lnSpc>
            </a:pPr>
            <a:r>
              <a:rPr lang="en-US" sz="2400" spc="-60" dirty="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 dirty="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Leads  = 0.10</a:t>
            </a:r>
          </a:p>
          <a:p>
            <a:pPr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l">
              <a:lnSpc>
                <a:spcPts val="3264"/>
              </a:lnSpc>
            </a:pPr>
            <a:endParaRPr lang="en-US" sz="2400" spc="-60" dirty="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04F8393-4594-4614-91A3-6EFF9E453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520" y="5695527"/>
            <a:ext cx="848677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023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440" y="1033719"/>
            <a:ext cx="16230600" cy="2560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960"/>
              </a:lnSpc>
            </a:pPr>
            <a:r>
              <a:rPr lang="en-US" sz="14400" b="1" spc="-1296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Baseline System</a:t>
            </a:r>
          </a:p>
          <a:p>
            <a:pPr marL="0" lvl="0" indent="0" algn="r">
              <a:lnSpc>
                <a:spcPts val="7200"/>
              </a:lnSpc>
            </a:pPr>
            <a:r>
              <a:rPr lang="en-US" sz="8000" b="1" spc="-720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sz="8000" b="1" spc="-72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(Rule Based Approach)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19440" y="2158258"/>
            <a:ext cx="258927" cy="25892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69370" y="2158258"/>
            <a:ext cx="258927" cy="25892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3709512"/>
            <a:ext cx="9084647" cy="4935092"/>
            <a:chOff x="0" y="0"/>
            <a:chExt cx="2392664" cy="12997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92664" cy="1299777"/>
            </a:xfrm>
            <a:custGeom>
              <a:avLst/>
              <a:gdLst/>
              <a:ahLst/>
              <a:cxnLst/>
              <a:rect l="l" t="t" r="r" b="b"/>
              <a:pathLst>
                <a:path w="2392664" h="1299777">
                  <a:moveTo>
                    <a:pt x="0" y="0"/>
                  </a:moveTo>
                  <a:lnTo>
                    <a:pt x="2392664" y="0"/>
                  </a:lnTo>
                  <a:lnTo>
                    <a:pt x="2392664" y="1299777"/>
                  </a:lnTo>
                  <a:lnTo>
                    <a:pt x="0" y="129977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76200"/>
              <a:ext cx="2392664" cy="12235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86652" y="4530868"/>
            <a:ext cx="8513985" cy="3292379"/>
            <a:chOff x="0" y="0"/>
            <a:chExt cx="1319039" cy="5100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19039" cy="510076"/>
            </a:xfrm>
            <a:custGeom>
              <a:avLst/>
              <a:gdLst/>
              <a:ahLst/>
              <a:cxnLst/>
              <a:rect l="l" t="t" r="r" b="b"/>
              <a:pathLst>
                <a:path w="1319039" h="510076">
                  <a:moveTo>
                    <a:pt x="0" y="0"/>
                  </a:moveTo>
                  <a:lnTo>
                    <a:pt x="1319039" y="0"/>
                  </a:lnTo>
                  <a:lnTo>
                    <a:pt x="1319039" y="510076"/>
                  </a:lnTo>
                  <a:lnTo>
                    <a:pt x="0" y="510076"/>
                  </a:lnTo>
                  <a:close/>
                </a:path>
              </a:pathLst>
            </a:custGeom>
            <a:blipFill>
              <a:blip r:embed="rId3"/>
              <a:stretch>
                <a:fillRect t="-79298" b="-7929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348903" y="4317609"/>
            <a:ext cx="8474421" cy="1627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Implemented using predefined rules and templates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Uses fixed SQL queries for data retrieval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Matches user queries to known patterns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Produces deterministic outputs (same input → same result)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48903" y="6658582"/>
            <a:ext cx="8474421" cy="1685803"/>
            <a:chOff x="0" y="0"/>
            <a:chExt cx="11299228" cy="224773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636560"/>
              <a:ext cx="11060567" cy="16111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64"/>
                </a:lnSpc>
              </a:pPr>
              <a:r>
                <a:rPr lang="en-US" sz="2400" spc="-60">
                  <a:solidFill>
                    <a:srgbClr val="DD5C5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● </a:t>
              </a:r>
              <a:r>
                <a:rPr lang="en-US" sz="2400" spc="-60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Limited to predefined query types</a:t>
              </a:r>
            </a:p>
            <a:p>
              <a:pPr algn="l">
                <a:lnSpc>
                  <a:spcPts val="3264"/>
                </a:lnSpc>
              </a:pPr>
              <a:r>
                <a:rPr lang="en-US" sz="2400" spc="-60">
                  <a:solidFill>
                    <a:srgbClr val="DD5C5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● </a:t>
              </a:r>
              <a:r>
                <a:rPr lang="en-US" sz="2400" spc="-60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Cannot adapt to complex or ambiguous requests</a:t>
              </a:r>
            </a:p>
            <a:p>
              <a:pPr algn="l">
                <a:lnSpc>
                  <a:spcPts val="3264"/>
                </a:lnSpc>
              </a:pPr>
              <a:endPara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1052" y="-38100"/>
              <a:ext cx="10718176" cy="515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Limitation: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4192" y="1033719"/>
            <a:ext cx="16230600" cy="340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960"/>
              </a:lnSpc>
            </a:pPr>
            <a:r>
              <a:rPr lang="en-US" sz="14400" b="1" spc="-1296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Proposed Agentic System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053854" y="3028766"/>
            <a:ext cx="258927" cy="25892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16898" y="3028766"/>
            <a:ext cx="258927" cy="25892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504112" y="3287693"/>
            <a:ext cx="7278222" cy="5378786"/>
            <a:chOff x="0" y="0"/>
            <a:chExt cx="1568356" cy="115905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68356" cy="1159054"/>
            </a:xfrm>
            <a:custGeom>
              <a:avLst/>
              <a:gdLst/>
              <a:ahLst/>
              <a:cxnLst/>
              <a:rect l="l" t="t" r="r" b="b"/>
              <a:pathLst>
                <a:path w="1568356" h="1159054">
                  <a:moveTo>
                    <a:pt x="0" y="0"/>
                  </a:moveTo>
                  <a:lnTo>
                    <a:pt x="1568356" y="0"/>
                  </a:lnTo>
                  <a:lnTo>
                    <a:pt x="1568356" y="1159054"/>
                  </a:lnTo>
                  <a:lnTo>
                    <a:pt x="0" y="1159054"/>
                  </a:lnTo>
                  <a:close/>
                </a:path>
              </a:pathLst>
            </a:custGeom>
            <a:blipFill>
              <a:blip r:embed="rId3"/>
              <a:stretch>
                <a:fillRect l="-16967" r="-16967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19440" y="4188745"/>
            <a:ext cx="9084647" cy="5898140"/>
            <a:chOff x="0" y="0"/>
            <a:chExt cx="2392664" cy="15534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92664" cy="1553420"/>
            </a:xfrm>
            <a:custGeom>
              <a:avLst/>
              <a:gdLst/>
              <a:ahLst/>
              <a:cxnLst/>
              <a:rect l="l" t="t" r="r" b="b"/>
              <a:pathLst>
                <a:path w="2392664" h="1553420">
                  <a:moveTo>
                    <a:pt x="0" y="0"/>
                  </a:moveTo>
                  <a:lnTo>
                    <a:pt x="2392664" y="0"/>
                  </a:lnTo>
                  <a:lnTo>
                    <a:pt x="2392664" y="1553420"/>
                  </a:lnTo>
                  <a:lnTo>
                    <a:pt x="0" y="15534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76200"/>
              <a:ext cx="2392664" cy="1477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32976" y="4484619"/>
            <a:ext cx="8254791" cy="1217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Uses a Large Language Model (LLM) for interpretation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Converts natural language into structured actions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DD5C5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● </a:t>
            </a: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Dynamically selects and calls tools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532976" y="6016852"/>
            <a:ext cx="6179457" cy="2000078"/>
            <a:chOff x="0" y="0"/>
            <a:chExt cx="8239276" cy="2666771"/>
          </a:xfrm>
        </p:grpSpPr>
        <p:sp>
          <p:nvSpPr>
            <p:cNvPr id="17" name="TextBox 17"/>
            <p:cNvSpPr txBox="1"/>
            <p:nvPr/>
          </p:nvSpPr>
          <p:spPr>
            <a:xfrm>
              <a:off x="0" y="509560"/>
              <a:ext cx="8065248" cy="2157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64"/>
                </a:lnSpc>
              </a:pPr>
              <a:r>
                <a:rPr lang="en-US" sz="2400" spc="-60">
                  <a:solidFill>
                    <a:srgbClr val="DD5C5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● </a:t>
              </a:r>
              <a:r>
                <a:rPr lang="en-US" sz="2400" b="1" spc="-6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db_query </a:t>
              </a:r>
              <a:r>
                <a:rPr lang="en-US" sz="2400" spc="-60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for data retrieval</a:t>
              </a:r>
            </a:p>
            <a:p>
              <a:pPr algn="l">
                <a:lnSpc>
                  <a:spcPts val="3264"/>
                </a:lnSpc>
              </a:pPr>
              <a:r>
                <a:rPr lang="en-US" sz="2400" spc="-60">
                  <a:solidFill>
                    <a:srgbClr val="DD5C5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● </a:t>
              </a:r>
              <a:r>
                <a:rPr lang="en-US" sz="2400" b="1" spc="-6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score_dealers </a:t>
              </a:r>
              <a:r>
                <a:rPr lang="en-US" sz="2400" spc="-60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for performance ranking</a:t>
              </a:r>
            </a:p>
            <a:p>
              <a:pPr algn="l">
                <a:lnSpc>
                  <a:spcPts val="3264"/>
                </a:lnSpc>
              </a:pPr>
              <a:r>
                <a:rPr lang="en-US" sz="2400" spc="-60">
                  <a:solidFill>
                    <a:srgbClr val="DD5C5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● </a:t>
              </a:r>
              <a:r>
                <a:rPr lang="en-US" sz="2400" b="1" spc="-6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chart_tool </a:t>
              </a:r>
              <a:r>
                <a:rPr lang="en-US" sz="2400" spc="-60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for visualization</a:t>
              </a:r>
            </a:p>
            <a:p>
              <a:pPr algn="l">
                <a:lnSpc>
                  <a:spcPts val="3264"/>
                </a:lnSpc>
              </a:pPr>
              <a:endPara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3697" y="-38100"/>
              <a:ext cx="7815579" cy="515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Core tools include: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32976" y="8016930"/>
            <a:ext cx="7846516" cy="1633173"/>
            <a:chOff x="0" y="0"/>
            <a:chExt cx="10462021" cy="2177564"/>
          </a:xfrm>
        </p:grpSpPr>
        <p:sp>
          <p:nvSpPr>
            <p:cNvPr id="20" name="TextBox 20"/>
            <p:cNvSpPr txBox="1"/>
            <p:nvPr/>
          </p:nvSpPr>
          <p:spPr>
            <a:xfrm>
              <a:off x="0" y="566387"/>
              <a:ext cx="10462021" cy="16111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64"/>
                </a:lnSpc>
              </a:pPr>
              <a:r>
                <a:rPr lang="en-US" sz="2400" spc="-60">
                  <a:solidFill>
                    <a:srgbClr val="DD5C5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● </a:t>
              </a:r>
              <a:r>
                <a:rPr lang="en-US" sz="2400" spc="-60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LLM handles reasoning</a:t>
              </a:r>
            </a:p>
            <a:p>
              <a:pPr algn="l">
                <a:lnSpc>
                  <a:spcPts val="3264"/>
                </a:lnSpc>
              </a:pPr>
              <a:r>
                <a:rPr lang="en-US" sz="2400" spc="-60">
                  <a:solidFill>
                    <a:srgbClr val="DD5C50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● </a:t>
              </a:r>
              <a:r>
                <a:rPr lang="en-US" sz="2400" spc="-60">
                  <a:solidFill>
                    <a:srgbClr val="626262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Tools ensure correctness and grounded outputs</a:t>
              </a:r>
            </a:p>
            <a:p>
              <a:pPr algn="l">
                <a:lnSpc>
                  <a:spcPts val="3264"/>
                </a:lnSpc>
              </a:pPr>
              <a:endPara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7112" y="-38100"/>
              <a:ext cx="5280102" cy="515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Key Principle: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620189" y="8841622"/>
            <a:ext cx="3874603" cy="398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4"/>
              </a:lnSpc>
              <a:spcBef>
                <a:spcPct val="0"/>
              </a:spcBef>
            </a:pPr>
            <a:r>
              <a:rPr lang="en-US" sz="2400" spc="-6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source; google adk web cli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2112" y="1384522"/>
            <a:ext cx="14787966" cy="1767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960"/>
              </a:lnSpc>
            </a:pPr>
            <a:r>
              <a:rPr lang="en-US" sz="14400" b="1" spc="-1296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How It Works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412156" y="0"/>
            <a:ext cx="5875844" cy="9523374"/>
            <a:chOff x="0" y="0"/>
            <a:chExt cx="910322" cy="14754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0322" cy="1475420"/>
            </a:xfrm>
            <a:custGeom>
              <a:avLst/>
              <a:gdLst/>
              <a:ahLst/>
              <a:cxnLst/>
              <a:rect l="l" t="t" r="r" b="b"/>
              <a:pathLst>
                <a:path w="910322" h="1475420">
                  <a:moveTo>
                    <a:pt x="0" y="0"/>
                  </a:moveTo>
                  <a:lnTo>
                    <a:pt x="910322" y="0"/>
                  </a:lnTo>
                  <a:lnTo>
                    <a:pt x="910322" y="1475420"/>
                  </a:lnTo>
                  <a:lnTo>
                    <a:pt x="0" y="1475420"/>
                  </a:lnTo>
                  <a:close/>
                </a:path>
              </a:pathLst>
            </a:custGeom>
            <a:blipFill>
              <a:blip r:embed="rId3"/>
              <a:stretch>
                <a:fillRect l="-3991" r="-3991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784400" y="3010212"/>
            <a:ext cx="7375855" cy="4798319"/>
            <a:chOff x="0" y="0"/>
            <a:chExt cx="1942612" cy="12637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42612" cy="1263755"/>
            </a:xfrm>
            <a:custGeom>
              <a:avLst/>
              <a:gdLst/>
              <a:ahLst/>
              <a:cxnLst/>
              <a:rect l="l" t="t" r="r" b="b"/>
              <a:pathLst>
                <a:path w="1942612" h="1263755">
                  <a:moveTo>
                    <a:pt x="0" y="0"/>
                  </a:moveTo>
                  <a:lnTo>
                    <a:pt x="1942612" y="0"/>
                  </a:lnTo>
                  <a:lnTo>
                    <a:pt x="1942612" y="1263755"/>
                  </a:lnTo>
                  <a:lnTo>
                    <a:pt x="0" y="126375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76200"/>
              <a:ext cx="1942612" cy="1187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99265" y="4210214"/>
            <a:ext cx="655495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099265" y="3542937"/>
            <a:ext cx="899839" cy="667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4"/>
              </a:lnSpc>
            </a:pPr>
            <a:r>
              <a:rPr lang="en-US" sz="5493" b="1" spc="-16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9265" y="4372139"/>
            <a:ext cx="899839" cy="667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4"/>
              </a:lnSpc>
            </a:pPr>
            <a:r>
              <a:rPr lang="en-US" sz="5493" b="1" spc="-16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2.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10830" y="3687492"/>
            <a:ext cx="2827430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User asks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10830" y="4516694"/>
            <a:ext cx="2827430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Understand intent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99265" y="5878144"/>
            <a:ext cx="655495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1099265" y="5206104"/>
            <a:ext cx="899839" cy="66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4"/>
              </a:lnSpc>
            </a:pPr>
            <a:r>
              <a:rPr lang="en-US" sz="5493" b="1" spc="-16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3.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9265" y="6044831"/>
            <a:ext cx="899839" cy="66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4"/>
              </a:lnSpc>
            </a:pPr>
            <a:r>
              <a:rPr lang="en-US" sz="5493" b="1" spc="-16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4.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10830" y="5350659"/>
            <a:ext cx="2827430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Extract metrics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10830" y="6189386"/>
            <a:ext cx="2827430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Fetch data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099265" y="5044179"/>
            <a:ext cx="655495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1099265" y="6726396"/>
            <a:ext cx="655495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1099265" y="6893084"/>
            <a:ext cx="899839" cy="66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4"/>
              </a:lnSpc>
            </a:pPr>
            <a:r>
              <a:rPr lang="en-US" sz="5493" b="1" spc="-16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5.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10830" y="7037639"/>
            <a:ext cx="2827430" cy="2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Return answer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0561" y="8195394"/>
            <a:ext cx="10655644" cy="1653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spc="-62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The agent reads your request, understands intent, extracts the metric and timeline, fetches specific data, and returns an easy-to-understand answer with optional charts. No dashboard hunting, no manual SQL, consistent definitions.</a:t>
            </a:r>
          </a:p>
        </p:txBody>
      </p:sp>
      <p:sp>
        <p:nvSpPr>
          <p:cNvPr id="23" name="Freeform 23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440" y="1033719"/>
            <a:ext cx="16230600" cy="176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2960"/>
              </a:lnSpc>
            </a:pPr>
            <a:r>
              <a:rPr lang="en-US" sz="14400" b="1" spc="-1296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System Architecture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19440" y="2158258"/>
            <a:ext cx="258927" cy="25892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69370" y="2158258"/>
            <a:ext cx="258927" cy="25892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3709512"/>
            <a:ext cx="9084647" cy="4935092"/>
            <a:chOff x="0" y="0"/>
            <a:chExt cx="2392664" cy="12997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92664" cy="1299777"/>
            </a:xfrm>
            <a:custGeom>
              <a:avLst/>
              <a:gdLst/>
              <a:ahLst/>
              <a:cxnLst/>
              <a:rect l="l" t="t" r="r" b="b"/>
              <a:pathLst>
                <a:path w="2392664" h="1299777">
                  <a:moveTo>
                    <a:pt x="0" y="0"/>
                  </a:moveTo>
                  <a:lnTo>
                    <a:pt x="2392664" y="0"/>
                  </a:lnTo>
                  <a:lnTo>
                    <a:pt x="2392664" y="1299777"/>
                  </a:lnTo>
                  <a:lnTo>
                    <a:pt x="0" y="129977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76200"/>
              <a:ext cx="2392664" cy="12235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55369" y="2417185"/>
            <a:ext cx="5088136" cy="8004778"/>
            <a:chOff x="0" y="0"/>
            <a:chExt cx="1319039" cy="20751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19039" cy="2075144"/>
            </a:xfrm>
            <a:custGeom>
              <a:avLst/>
              <a:gdLst/>
              <a:ahLst/>
              <a:cxnLst/>
              <a:rect l="l" t="t" r="r" b="b"/>
              <a:pathLst>
                <a:path w="1319039" h="2075144">
                  <a:moveTo>
                    <a:pt x="0" y="0"/>
                  </a:moveTo>
                  <a:lnTo>
                    <a:pt x="1319039" y="0"/>
                  </a:lnTo>
                  <a:lnTo>
                    <a:pt x="1319039" y="2075144"/>
                  </a:lnTo>
                  <a:lnTo>
                    <a:pt x="0" y="2075144"/>
                  </a:lnTo>
                  <a:close/>
                </a:path>
              </a:pathLst>
            </a:custGeom>
            <a:blipFill>
              <a:blip r:embed="rId3"/>
              <a:stretch>
                <a:fillRect t="-2529" b="-2529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4" name="Freeform 14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48903" y="4317609"/>
            <a:ext cx="8474421" cy="3265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22222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User → UI → Agent → MCP Layer → PostgreSQL Database</a:t>
            </a:r>
          </a:p>
          <a:p>
            <a:pPr algn="l">
              <a:lnSpc>
                <a:spcPts val="3264"/>
              </a:lnSpc>
            </a:pPr>
            <a:endParaRPr lang="en-US" sz="2400" spc="-60">
              <a:solidFill>
                <a:srgbClr val="222223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22222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Components: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 spc="-60">
                <a:solidFill>
                  <a:srgbClr val="22222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UI: Streamlit interface for user interaction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 spc="-60">
                <a:solidFill>
                  <a:srgbClr val="22222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Agent: ADK-based system for interpreting queries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 spc="-60">
                <a:solidFill>
                  <a:srgbClr val="22222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MCP Layer: Enforces read-only and safe database access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 spc="-60">
                <a:solidFill>
                  <a:srgbClr val="22222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Database: PostgreSQL storing dealer activity data</a:t>
            </a:r>
          </a:p>
          <a:p>
            <a:pPr algn="l">
              <a:lnSpc>
                <a:spcPts val="3264"/>
              </a:lnSpc>
            </a:pPr>
            <a:endParaRPr lang="en-US" sz="2400" spc="-60">
              <a:solidFill>
                <a:srgbClr val="222223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440" y="1033719"/>
            <a:ext cx="16230600" cy="176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60"/>
              </a:lnSpc>
            </a:pPr>
            <a:r>
              <a:rPr lang="en-US" sz="14400" b="1" spc="-1296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Demo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19440" y="2158258"/>
            <a:ext cx="258927" cy="25892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69370" y="2158258"/>
            <a:ext cx="258927" cy="25892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87155" y="3269684"/>
            <a:ext cx="9084647" cy="4935092"/>
            <a:chOff x="0" y="0"/>
            <a:chExt cx="2392664" cy="12997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92664" cy="1299777"/>
            </a:xfrm>
            <a:custGeom>
              <a:avLst/>
              <a:gdLst/>
              <a:ahLst/>
              <a:cxnLst/>
              <a:rect l="l" t="t" r="r" b="b"/>
              <a:pathLst>
                <a:path w="2392664" h="1299777">
                  <a:moveTo>
                    <a:pt x="0" y="0"/>
                  </a:moveTo>
                  <a:lnTo>
                    <a:pt x="2392664" y="0"/>
                  </a:lnTo>
                  <a:lnTo>
                    <a:pt x="2392664" y="1299777"/>
                  </a:lnTo>
                  <a:lnTo>
                    <a:pt x="0" y="129977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76200"/>
              <a:ext cx="2392664" cy="12235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440" y="1033719"/>
            <a:ext cx="16230600" cy="176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2960"/>
              </a:lnSpc>
            </a:pPr>
            <a:r>
              <a:rPr lang="en-US" sz="14400" b="1" spc="-1296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Evaluation Setup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3709512"/>
            <a:ext cx="10501872" cy="4935092"/>
            <a:chOff x="0" y="0"/>
            <a:chExt cx="2765925" cy="12997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65925" cy="1299777"/>
            </a:xfrm>
            <a:custGeom>
              <a:avLst/>
              <a:gdLst/>
              <a:ahLst/>
              <a:cxnLst/>
              <a:rect l="l" t="t" r="r" b="b"/>
              <a:pathLst>
                <a:path w="2765925" h="1299777">
                  <a:moveTo>
                    <a:pt x="0" y="0"/>
                  </a:moveTo>
                  <a:lnTo>
                    <a:pt x="2765925" y="0"/>
                  </a:lnTo>
                  <a:lnTo>
                    <a:pt x="2765925" y="1299777"/>
                  </a:lnTo>
                  <a:lnTo>
                    <a:pt x="0" y="129977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2765925" cy="12235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48903" y="4317609"/>
            <a:ext cx="9696166" cy="367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 spc="-60">
                <a:solidFill>
                  <a:srgbClr val="22222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13 evaluation prompts (T1–T13)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 spc="-60">
                <a:solidFill>
                  <a:srgbClr val="22222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Same dataset and conditions for both systems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 spc="-60">
                <a:solidFill>
                  <a:srgbClr val="22222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Ground truth computed using PostgreSQL queries</a:t>
            </a:r>
          </a:p>
          <a:p>
            <a:pPr algn="l">
              <a:lnSpc>
                <a:spcPts val="3264"/>
              </a:lnSpc>
            </a:pPr>
            <a:endParaRPr lang="en-US" sz="2400" spc="-60">
              <a:solidFill>
                <a:srgbClr val="222223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22222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Evaluation metrics: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 spc="-60">
                <a:solidFill>
                  <a:srgbClr val="22222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Accuracy of numeric outputs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 spc="-60">
                <a:solidFill>
                  <a:srgbClr val="22222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Task completion and scope adherence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 spc="-60">
                <a:solidFill>
                  <a:srgbClr val="222223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Efficiency (number of steps or tool calls)</a:t>
            </a:r>
          </a:p>
          <a:p>
            <a:pPr algn="l">
              <a:lnSpc>
                <a:spcPts val="3264"/>
              </a:lnSpc>
            </a:pPr>
            <a:endParaRPr lang="en-US" sz="2400" spc="-60">
              <a:solidFill>
                <a:srgbClr val="222223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98834" y="931283"/>
            <a:ext cx="15560466" cy="176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2960"/>
              </a:lnSpc>
            </a:pPr>
            <a:r>
              <a:rPr lang="en-US" sz="14400" b="1" spc="-1296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Evaluation Metrics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2500" y="2158258"/>
            <a:ext cx="258927" cy="25892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02431" y="2158258"/>
            <a:ext cx="258927" cy="25892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19037" y="3145931"/>
            <a:ext cx="16580799" cy="6359152"/>
            <a:chOff x="0" y="0"/>
            <a:chExt cx="4366960" cy="16748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66959" cy="1674838"/>
            </a:xfrm>
            <a:custGeom>
              <a:avLst/>
              <a:gdLst/>
              <a:ahLst/>
              <a:cxnLst/>
              <a:rect l="l" t="t" r="r" b="b"/>
              <a:pathLst>
                <a:path w="4366959" h="1674838">
                  <a:moveTo>
                    <a:pt x="0" y="0"/>
                  </a:moveTo>
                  <a:lnTo>
                    <a:pt x="4366959" y="0"/>
                  </a:lnTo>
                  <a:lnTo>
                    <a:pt x="4366959" y="1674838"/>
                  </a:lnTo>
                  <a:lnTo>
                    <a:pt x="0" y="167483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76200"/>
              <a:ext cx="4366960" cy="1598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81975" y="3489135"/>
            <a:ext cx="899839" cy="667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4"/>
              </a:lnSpc>
            </a:pPr>
            <a:r>
              <a:rPr lang="en-US" sz="5493" b="1" spc="-16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8231" y="3627526"/>
            <a:ext cx="899839" cy="667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4"/>
              </a:lnSpc>
            </a:pPr>
            <a:r>
              <a:rPr lang="en-US" sz="5493" b="1" spc="-16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2.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14322" y="3541801"/>
            <a:ext cx="2939156" cy="844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ACCURACY OF NUMERIC OUTPUTS (RQ1)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98070" y="3587746"/>
            <a:ext cx="2827430" cy="568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TASK COMPLETION(RQ2)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0781" y="4468704"/>
            <a:ext cx="4795011" cy="5313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Measures correctness against PostgreSQL ground truth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Checks: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Correct country filter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Correct metric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Correct date range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Correct numeric value / ranking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Output: Accurate (1) or Inaccurate (0)</a:t>
            </a:r>
          </a:p>
          <a:p>
            <a:pPr algn="l">
              <a:lnSpc>
                <a:spcPts val="3264"/>
              </a:lnSpc>
            </a:pPr>
            <a:endParaRPr lang="en-US" sz="2400" spc="-6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Purpose : Ensures results are reliable and not misleading </a:t>
            </a:r>
          </a:p>
          <a:p>
            <a:pPr algn="l">
              <a:lnSpc>
                <a:spcPts val="3264"/>
              </a:lnSpc>
            </a:pPr>
            <a:endParaRPr lang="en-US" sz="2400" spc="-60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921594" y="4468704"/>
            <a:ext cx="4444812" cy="367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Evaluates how fully the system answers the prompt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Scoring:</a:t>
            </a:r>
          </a:p>
          <a:p>
            <a:pPr marL="1036320" lvl="2" indent="-345440" algn="l">
              <a:lnSpc>
                <a:spcPts val="3264"/>
              </a:lnSpc>
              <a:buFont typeface="Arial"/>
              <a:buChar char="⚬"/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1.0 → Full completion</a:t>
            </a:r>
          </a:p>
          <a:p>
            <a:pPr marL="1036320" lvl="2" indent="-345440" algn="l">
              <a:lnSpc>
                <a:spcPts val="3264"/>
              </a:lnSpc>
              <a:buFont typeface="Arial"/>
              <a:buChar char="⚬"/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0.5 → Partial completion</a:t>
            </a:r>
          </a:p>
          <a:p>
            <a:pPr marL="1036320" lvl="2" indent="-345440" algn="l">
              <a:lnSpc>
                <a:spcPts val="3264"/>
              </a:lnSpc>
              <a:buFont typeface="Arial"/>
              <a:buChar char="⚬"/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0.0 → Failed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Purpose :</a:t>
            </a:r>
          </a:p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Captures ability to handle multi-step and complex queries</a:t>
            </a:r>
          </a:p>
        </p:txBody>
      </p:sp>
      <p:sp>
        <p:nvSpPr>
          <p:cNvPr id="18" name="AutoShape 18"/>
          <p:cNvSpPr/>
          <p:nvPr/>
        </p:nvSpPr>
        <p:spPr>
          <a:xfrm flipV="1">
            <a:off x="6616354" y="5366799"/>
            <a:ext cx="0" cy="234448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2619009" y="3673471"/>
            <a:ext cx="899839" cy="66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4"/>
              </a:lnSpc>
            </a:pPr>
            <a:r>
              <a:rPr lang="en-US" sz="5493" b="1" spc="-16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3.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23179" y="3772094"/>
            <a:ext cx="2827430" cy="29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EFFICIENCY(RQ3)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19009" y="4358118"/>
            <a:ext cx="4163965" cy="5354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420" lvl="1" indent="-242710" algn="l">
              <a:lnSpc>
                <a:spcPts val="3057"/>
              </a:lnSpc>
              <a:buFont typeface="Arial"/>
              <a:buChar char="•"/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Measures cost of solving each task</a:t>
            </a:r>
          </a:p>
          <a:p>
            <a:pPr marL="485420" lvl="1" indent="-242710" algn="l">
              <a:lnSpc>
                <a:spcPts val="3057"/>
              </a:lnSpc>
              <a:buFont typeface="Arial"/>
              <a:buChar char="•"/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Based on:</a:t>
            </a:r>
          </a:p>
          <a:p>
            <a:pPr marL="970840" lvl="2" indent="-323613" algn="l">
              <a:lnSpc>
                <a:spcPts val="3057"/>
              </a:lnSpc>
              <a:buFont typeface="Arial"/>
              <a:buChar char="⚬"/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Number of tool calls (agentic)</a:t>
            </a:r>
          </a:p>
          <a:p>
            <a:pPr marL="970840" lvl="2" indent="-323613" algn="l">
              <a:lnSpc>
                <a:spcPts val="3057"/>
              </a:lnSpc>
              <a:buFont typeface="Arial"/>
              <a:buChar char="⚬"/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Number of processing steps (baseline)</a:t>
            </a:r>
          </a:p>
          <a:p>
            <a:pPr algn="l">
              <a:lnSpc>
                <a:spcPts val="3057"/>
              </a:lnSpc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Reported as:</a:t>
            </a:r>
          </a:p>
          <a:p>
            <a:pPr marL="485420" lvl="1" indent="-242710" algn="l">
              <a:lnSpc>
                <a:spcPts val="3057"/>
              </a:lnSpc>
              <a:buFont typeface="Arial"/>
              <a:buChar char="•"/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Mean steps per task</a:t>
            </a:r>
          </a:p>
          <a:p>
            <a:pPr marL="485420" lvl="1" indent="-242710" algn="l">
              <a:lnSpc>
                <a:spcPts val="3057"/>
              </a:lnSpc>
              <a:buFont typeface="Arial"/>
              <a:buChar char="•"/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Median steps per task</a:t>
            </a:r>
          </a:p>
          <a:p>
            <a:pPr algn="l">
              <a:lnSpc>
                <a:spcPts val="3057"/>
              </a:lnSpc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Purpose :</a:t>
            </a:r>
          </a:p>
          <a:p>
            <a:pPr algn="l">
              <a:lnSpc>
                <a:spcPts val="3057"/>
              </a:lnSpc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Shows trade-off between flexibility and speed</a:t>
            </a:r>
          </a:p>
          <a:p>
            <a:pPr algn="l">
              <a:lnSpc>
                <a:spcPts val="3057"/>
              </a:lnSpc>
            </a:pPr>
            <a:endParaRPr lang="en-US" sz="2248" spc="-56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22" name="AutoShape 22"/>
          <p:cNvSpPr/>
          <p:nvPr/>
        </p:nvSpPr>
        <p:spPr>
          <a:xfrm flipV="1">
            <a:off x="12090447" y="5374363"/>
            <a:ext cx="0" cy="234448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20548" y="931283"/>
            <a:ext cx="11438752" cy="176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2960"/>
              </a:lnSpc>
            </a:pPr>
            <a:r>
              <a:rPr lang="en-US" sz="14400" b="1" spc="-1296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Results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19440" y="2158258"/>
            <a:ext cx="258927" cy="25892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69370" y="2158258"/>
            <a:ext cx="258927" cy="25892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75" y="3280757"/>
            <a:ext cx="5802773" cy="1007509"/>
            <a:chOff x="0" y="0"/>
            <a:chExt cx="1528302" cy="2653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28302" cy="265352"/>
            </a:xfrm>
            <a:custGeom>
              <a:avLst/>
              <a:gdLst/>
              <a:ahLst/>
              <a:cxnLst/>
              <a:rect l="l" t="t" r="r" b="b"/>
              <a:pathLst>
                <a:path w="1528302" h="265352">
                  <a:moveTo>
                    <a:pt x="0" y="0"/>
                  </a:moveTo>
                  <a:lnTo>
                    <a:pt x="1528302" y="0"/>
                  </a:lnTo>
                  <a:lnTo>
                    <a:pt x="1528302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76200"/>
              <a:ext cx="1528302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820548" y="3271232"/>
            <a:ext cx="6217791" cy="1007509"/>
            <a:chOff x="0" y="0"/>
            <a:chExt cx="1637607" cy="2653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5532" y="5351938"/>
            <a:ext cx="5795015" cy="1007509"/>
            <a:chOff x="0" y="0"/>
            <a:chExt cx="1526259" cy="2653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26259" cy="265352"/>
            </a:xfrm>
            <a:custGeom>
              <a:avLst/>
              <a:gdLst/>
              <a:ahLst/>
              <a:cxnLst/>
              <a:rect l="l" t="t" r="r" b="b"/>
              <a:pathLst>
                <a:path w="1526259" h="265352">
                  <a:moveTo>
                    <a:pt x="0" y="0"/>
                  </a:moveTo>
                  <a:lnTo>
                    <a:pt x="1526259" y="0"/>
                  </a:lnTo>
                  <a:lnTo>
                    <a:pt x="1526259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76200"/>
              <a:ext cx="1526259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46049" y="5341217"/>
            <a:ext cx="6217791" cy="1007509"/>
            <a:chOff x="0" y="0"/>
            <a:chExt cx="1637607" cy="26535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5532" y="7424106"/>
            <a:ext cx="5795015" cy="1007509"/>
            <a:chOff x="0" y="0"/>
            <a:chExt cx="1526259" cy="2653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26259" cy="265352"/>
            </a:xfrm>
            <a:custGeom>
              <a:avLst/>
              <a:gdLst/>
              <a:ahLst/>
              <a:cxnLst/>
              <a:rect l="l" t="t" r="r" b="b"/>
              <a:pathLst>
                <a:path w="1526259" h="265352">
                  <a:moveTo>
                    <a:pt x="0" y="0"/>
                  </a:moveTo>
                  <a:lnTo>
                    <a:pt x="1526259" y="0"/>
                  </a:lnTo>
                  <a:lnTo>
                    <a:pt x="1526259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76200"/>
              <a:ext cx="1526259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922018" y="7387015"/>
            <a:ext cx="6217791" cy="1007509"/>
            <a:chOff x="0" y="0"/>
            <a:chExt cx="1637607" cy="2653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7775" y="4319578"/>
            <a:ext cx="5802773" cy="1007509"/>
            <a:chOff x="0" y="0"/>
            <a:chExt cx="1528302" cy="26535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28302" cy="265352"/>
            </a:xfrm>
            <a:custGeom>
              <a:avLst/>
              <a:gdLst/>
              <a:ahLst/>
              <a:cxnLst/>
              <a:rect l="l" t="t" r="r" b="b"/>
              <a:pathLst>
                <a:path w="1528302" h="265352">
                  <a:moveTo>
                    <a:pt x="0" y="0"/>
                  </a:moveTo>
                  <a:lnTo>
                    <a:pt x="1528302" y="0"/>
                  </a:lnTo>
                  <a:lnTo>
                    <a:pt x="1528302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76200"/>
              <a:ext cx="1528302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846049" y="4322358"/>
            <a:ext cx="6217791" cy="1007509"/>
            <a:chOff x="0" y="0"/>
            <a:chExt cx="1637607" cy="2653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5532" y="6368972"/>
            <a:ext cx="5795015" cy="1007509"/>
            <a:chOff x="0" y="0"/>
            <a:chExt cx="1526259" cy="2653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26259" cy="265352"/>
            </a:xfrm>
            <a:custGeom>
              <a:avLst/>
              <a:gdLst/>
              <a:ahLst/>
              <a:cxnLst/>
              <a:rect l="l" t="t" r="r" b="b"/>
              <a:pathLst>
                <a:path w="1526259" h="265352">
                  <a:moveTo>
                    <a:pt x="0" y="0"/>
                  </a:moveTo>
                  <a:lnTo>
                    <a:pt x="1526259" y="0"/>
                  </a:lnTo>
                  <a:lnTo>
                    <a:pt x="1526259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76200"/>
              <a:ext cx="1526259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846049" y="6348726"/>
            <a:ext cx="6217791" cy="1007509"/>
            <a:chOff x="0" y="0"/>
            <a:chExt cx="1637607" cy="26535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3024" y="4526142"/>
            <a:ext cx="1126416" cy="77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1"/>
              </a:lnSpc>
            </a:pPr>
            <a:r>
              <a:rPr lang="en-US" sz="6246" b="1" spc="-187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885788" y="3729124"/>
            <a:ext cx="3047698" cy="29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b="1" spc="-6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METRIC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85922" y="3687016"/>
            <a:ext cx="3704322" cy="29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b="1" spc="-6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BASELINE SYSTEM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83722" y="4711981"/>
            <a:ext cx="4449884" cy="29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NUMERIC ACCURACY RATE  (%)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385922" y="4761878"/>
            <a:ext cx="3704322" cy="29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100%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13185" y="5747572"/>
            <a:ext cx="4320421" cy="29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FULL COMPLETION RATE (%)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156103" y="5713384"/>
            <a:ext cx="4163959" cy="29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80%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13185" y="6650306"/>
            <a:ext cx="3820301" cy="568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AVERAGE COMPLETION SCORE (0-1)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714233" y="6788418"/>
            <a:ext cx="3047698" cy="29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0.85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13185" y="7671756"/>
            <a:ext cx="3945084" cy="568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AVERGAGE TOOL CALL STEPS PER TASK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030914" y="7842010"/>
            <a:ext cx="951286" cy="304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83"/>
              </a:lnSpc>
            </a:pPr>
            <a:r>
              <a:rPr lang="en-US" sz="2425" spc="-63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1.15</a:t>
            </a:r>
          </a:p>
        </p:txBody>
      </p:sp>
      <p:sp>
        <p:nvSpPr>
          <p:cNvPr id="50" name="Freeform 50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1" name="Group 51"/>
          <p:cNvGrpSpPr/>
          <p:nvPr/>
        </p:nvGrpSpPr>
        <p:grpSpPr>
          <a:xfrm>
            <a:off x="12038338" y="3280757"/>
            <a:ext cx="6217791" cy="1007509"/>
            <a:chOff x="0" y="0"/>
            <a:chExt cx="1637607" cy="26535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092415" y="5331879"/>
            <a:ext cx="6217791" cy="1007509"/>
            <a:chOff x="0" y="0"/>
            <a:chExt cx="1637607" cy="26535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089341" y="7334214"/>
            <a:ext cx="6217791" cy="1007509"/>
            <a:chOff x="0" y="0"/>
            <a:chExt cx="1637607" cy="26535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092415" y="4313535"/>
            <a:ext cx="6217791" cy="1007509"/>
            <a:chOff x="0" y="0"/>
            <a:chExt cx="1637607" cy="26535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092415" y="6359447"/>
            <a:ext cx="6217791" cy="1007509"/>
            <a:chOff x="0" y="0"/>
            <a:chExt cx="1637607" cy="26535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637607" cy="265352"/>
            </a:xfrm>
            <a:custGeom>
              <a:avLst/>
              <a:gdLst/>
              <a:ahLst/>
              <a:cxnLst/>
              <a:rect l="l" t="t" r="r" b="b"/>
              <a:pathLst>
                <a:path w="1637607" h="265352">
                  <a:moveTo>
                    <a:pt x="0" y="0"/>
                  </a:moveTo>
                  <a:lnTo>
                    <a:pt x="1637607" y="0"/>
                  </a:lnTo>
                  <a:lnTo>
                    <a:pt x="1637607" y="265352"/>
                  </a:lnTo>
                  <a:lnTo>
                    <a:pt x="0" y="2653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0" y="76200"/>
              <a:ext cx="1637607" cy="189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r>
                <a:rPr lang="en-US" sz="2499" spc="-62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1.0</a:t>
              </a:r>
            </a:p>
            <a:p>
              <a:pPr algn="ctr">
                <a:lnSpc>
                  <a:spcPts val="2249"/>
                </a:lnSpc>
              </a:pPr>
              <a:endParaRPr lang="en-US" sz="2499" spc="-62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endParaRP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3623384" y="5781255"/>
            <a:ext cx="3047698" cy="29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100%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3228768" y="7762182"/>
            <a:ext cx="3945084" cy="29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2.2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924163" y="3687016"/>
            <a:ext cx="3704322" cy="29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425" b="1" spc="-6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PROPOSED SYSTEM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3024" y="5597582"/>
            <a:ext cx="1126416" cy="77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1"/>
              </a:lnSpc>
            </a:pPr>
            <a:r>
              <a:rPr lang="en-US" sz="6246" b="1" spc="-187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2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3024" y="6584844"/>
            <a:ext cx="1126416" cy="77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1"/>
              </a:lnSpc>
            </a:pPr>
            <a:r>
              <a:rPr lang="en-US" sz="6246" b="1" spc="-187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3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3024" y="7570333"/>
            <a:ext cx="1126416" cy="77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1"/>
              </a:lnSpc>
            </a:pPr>
            <a:r>
              <a:rPr lang="en-US" sz="6246" b="1" spc="-187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4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3580787" y="4725112"/>
            <a:ext cx="3047698" cy="292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3"/>
              </a:lnSpc>
            </a:pPr>
            <a:r>
              <a:rPr lang="en-US" sz="2425" spc="-6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100%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98834" y="826508"/>
            <a:ext cx="15560466" cy="2642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90"/>
              </a:lnSpc>
            </a:pPr>
            <a:r>
              <a:rPr lang="en-US" sz="11100" b="1" spc="-999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Key Findings &amp; Conclusion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2500" y="2158258"/>
            <a:ext cx="258927" cy="25892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02431" y="2158258"/>
            <a:ext cx="258927" cy="25892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19037" y="3145931"/>
            <a:ext cx="16580799" cy="6359152"/>
            <a:chOff x="0" y="0"/>
            <a:chExt cx="4366960" cy="16748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66959" cy="1674838"/>
            </a:xfrm>
            <a:custGeom>
              <a:avLst/>
              <a:gdLst/>
              <a:ahLst/>
              <a:cxnLst/>
              <a:rect l="l" t="t" r="r" b="b"/>
              <a:pathLst>
                <a:path w="4366959" h="1674838">
                  <a:moveTo>
                    <a:pt x="0" y="0"/>
                  </a:moveTo>
                  <a:lnTo>
                    <a:pt x="4366959" y="0"/>
                  </a:lnTo>
                  <a:lnTo>
                    <a:pt x="4366959" y="1674838"/>
                  </a:lnTo>
                  <a:lnTo>
                    <a:pt x="0" y="167483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D5C5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76200"/>
              <a:ext cx="4366960" cy="1598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81975" y="3489135"/>
            <a:ext cx="899839" cy="667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4"/>
              </a:lnSpc>
            </a:pPr>
            <a:r>
              <a:rPr lang="en-US" sz="5493" b="1" spc="-16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1.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8231" y="3627526"/>
            <a:ext cx="899839" cy="667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4"/>
              </a:lnSpc>
            </a:pPr>
            <a:r>
              <a:rPr lang="en-US" sz="5493" b="1" spc="-16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2.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0233" y="4256703"/>
            <a:ext cx="4795011" cy="1218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Both systems achieve the same numeric accuracy on structured queries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8231" y="4302626"/>
            <a:ext cx="4444812" cy="1218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spc="-60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agentic system performs better on multi-part and complex prompts</a:t>
            </a:r>
          </a:p>
        </p:txBody>
      </p:sp>
      <p:sp>
        <p:nvSpPr>
          <p:cNvPr id="16" name="AutoShape 16"/>
          <p:cNvSpPr/>
          <p:nvPr/>
        </p:nvSpPr>
        <p:spPr>
          <a:xfrm flipV="1">
            <a:off x="6392957" y="4340726"/>
            <a:ext cx="0" cy="234448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2619009" y="3673471"/>
            <a:ext cx="899839" cy="66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44"/>
              </a:lnSpc>
            </a:pPr>
            <a:r>
              <a:rPr lang="en-US" sz="5493" b="1" spc="-164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3.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19009" y="4424139"/>
            <a:ext cx="4163965" cy="1901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7"/>
              </a:lnSpc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baseline system fails when queries go beyond predefined templates</a:t>
            </a:r>
          </a:p>
          <a:p>
            <a:pPr algn="l">
              <a:lnSpc>
                <a:spcPts val="3057"/>
              </a:lnSpc>
            </a:pPr>
            <a:endParaRPr lang="en-US" sz="2248" spc="-56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l">
              <a:lnSpc>
                <a:spcPts val="3057"/>
              </a:lnSpc>
            </a:pPr>
            <a:endParaRPr lang="en-US" sz="2248" spc="-56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19" name="AutoShape 19"/>
          <p:cNvSpPr/>
          <p:nvPr/>
        </p:nvSpPr>
        <p:spPr>
          <a:xfrm flipV="1">
            <a:off x="11875993" y="4156413"/>
            <a:ext cx="0" cy="234448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419037" y="299705"/>
            <a:ext cx="2300665" cy="629828"/>
          </a:xfrm>
          <a:custGeom>
            <a:avLst/>
            <a:gdLst/>
            <a:ahLst/>
            <a:cxnLst/>
            <a:rect l="l" t="t" r="r" b="b"/>
            <a:pathLst>
              <a:path w="2300665" h="629828">
                <a:moveTo>
                  <a:pt x="0" y="0"/>
                </a:moveTo>
                <a:lnTo>
                  <a:pt x="2300666" y="0"/>
                </a:lnTo>
                <a:lnTo>
                  <a:pt x="2300666" y="629828"/>
                </a:lnTo>
                <a:lnTo>
                  <a:pt x="0" y="629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692542" y="5822148"/>
            <a:ext cx="8428095" cy="3436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7"/>
              </a:lnSpc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Key Insight:</a:t>
            </a:r>
          </a:p>
          <a:p>
            <a:pPr algn="l">
              <a:lnSpc>
                <a:spcPts val="3057"/>
              </a:lnSpc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Improvement is observed in task completion, not numeric accuracy</a:t>
            </a:r>
          </a:p>
          <a:p>
            <a:pPr algn="l">
              <a:lnSpc>
                <a:spcPts val="3057"/>
              </a:lnSpc>
            </a:pPr>
            <a:endParaRPr lang="en-US" sz="2248" spc="-56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l">
              <a:lnSpc>
                <a:spcPts val="3057"/>
              </a:lnSpc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Trade-off:</a:t>
            </a:r>
          </a:p>
          <a:p>
            <a:pPr algn="l">
              <a:lnSpc>
                <a:spcPts val="3057"/>
              </a:lnSpc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Higher flexibility comes with increased processing steps</a:t>
            </a:r>
          </a:p>
          <a:p>
            <a:pPr algn="l">
              <a:lnSpc>
                <a:spcPts val="3057"/>
              </a:lnSpc>
            </a:pPr>
            <a:endParaRPr lang="en-US" sz="2248" spc="-56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l">
              <a:lnSpc>
                <a:spcPts val="3057"/>
              </a:lnSpc>
            </a:pPr>
            <a:endParaRPr lang="en-US" sz="2248" spc="-56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l">
              <a:lnSpc>
                <a:spcPts val="3057"/>
              </a:lnSpc>
            </a:pPr>
            <a:endParaRPr lang="en-US" sz="2248" spc="-56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571742" y="6024780"/>
            <a:ext cx="8428095" cy="3030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420" lvl="1" indent="-242710" algn="l">
              <a:lnSpc>
                <a:spcPts val="3057"/>
              </a:lnSpc>
              <a:buFont typeface="Arial"/>
              <a:buChar char="•"/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proposed agentic system improves:</a:t>
            </a:r>
          </a:p>
          <a:p>
            <a:pPr marL="970841" lvl="2" indent="-323614" algn="l">
              <a:lnSpc>
                <a:spcPts val="3057"/>
              </a:lnSpc>
              <a:buAutoNum type="alphaLcPeriod"/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Task completion</a:t>
            </a:r>
          </a:p>
          <a:p>
            <a:pPr marL="970841" lvl="2" indent="-323614" algn="l">
              <a:lnSpc>
                <a:spcPts val="3057"/>
              </a:lnSpc>
              <a:buAutoNum type="alphaLcPeriod"/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Flexibility in handling queries</a:t>
            </a:r>
          </a:p>
          <a:p>
            <a:pPr marL="485420" lvl="1" indent="-242710" algn="l">
              <a:lnSpc>
                <a:spcPts val="3057"/>
              </a:lnSpc>
              <a:buFont typeface="Arial"/>
              <a:buChar char="•"/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While maintaining:</a:t>
            </a:r>
          </a:p>
          <a:p>
            <a:pPr marL="970841" lvl="2" indent="-323614" algn="l">
              <a:lnSpc>
                <a:spcPts val="3057"/>
              </a:lnSpc>
              <a:buAutoNum type="alphaLcPeriod"/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Numeric accuracy</a:t>
            </a:r>
          </a:p>
          <a:p>
            <a:pPr marL="970841" lvl="2" indent="-323614" algn="l">
              <a:lnSpc>
                <a:spcPts val="3057"/>
              </a:lnSpc>
              <a:buAutoNum type="alphaLcPeriod"/>
            </a:pPr>
            <a:r>
              <a:rPr lang="en-US" sz="2248" spc="-56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Safe and controlled database access</a:t>
            </a:r>
          </a:p>
          <a:p>
            <a:pPr algn="l">
              <a:lnSpc>
                <a:spcPts val="3057"/>
              </a:lnSpc>
            </a:pPr>
            <a:endParaRPr lang="en-US" sz="2248" spc="-56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l">
              <a:lnSpc>
                <a:spcPts val="3057"/>
              </a:lnSpc>
            </a:pPr>
            <a:endParaRPr lang="en-US" sz="2248" spc="-56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47941" y="8306264"/>
            <a:ext cx="8161496" cy="1470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1"/>
              </a:lnSpc>
            </a:pPr>
            <a:r>
              <a:rPr lang="en-US" sz="2177" b="1" spc="-54">
                <a:solidFill>
                  <a:srgbClr val="62626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Final takeaway:</a:t>
            </a:r>
          </a:p>
          <a:p>
            <a:pPr algn="ctr">
              <a:lnSpc>
                <a:spcPts val="2961"/>
              </a:lnSpc>
            </a:pPr>
            <a:r>
              <a:rPr lang="en-US" sz="2177" spc="-54">
                <a:solidFill>
                  <a:srgbClr val="62626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Tool-grounded agentic systems provide a practical and reliable approach for dealer analytics</a:t>
            </a:r>
          </a:p>
          <a:p>
            <a:pPr algn="ctr">
              <a:lnSpc>
                <a:spcPts val="2961"/>
              </a:lnSpc>
            </a:pPr>
            <a:endParaRPr lang="en-US" sz="2177" spc="-54">
              <a:solidFill>
                <a:srgbClr val="626262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8402" y="2499825"/>
            <a:ext cx="13269888" cy="317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085"/>
              </a:lnSpc>
            </a:pPr>
            <a:r>
              <a:rPr lang="en-US" sz="25650" b="1" spc="-2308">
                <a:solidFill>
                  <a:srgbClr val="DD5C50"/>
                </a:solidFill>
                <a:latin typeface="TT Fors Bold"/>
                <a:ea typeface="TT Fors Bold"/>
                <a:cs typeface="TT Fors Bold"/>
                <a:sym typeface="TT Fors Bold"/>
              </a:rPr>
              <a:t>Thank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085770" y="4457289"/>
            <a:ext cx="13332520" cy="31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085"/>
              </a:lnSpc>
            </a:pPr>
            <a:r>
              <a:rPr lang="en-US" sz="25650" i="1" spc="-2308">
                <a:solidFill>
                  <a:srgbClr val="222223"/>
                </a:solidFill>
                <a:latin typeface="TT Fors Italics"/>
                <a:ea typeface="TT Fors Italics"/>
                <a:cs typeface="TT Fors Italics"/>
                <a:sym typeface="TT Fors Italics"/>
              </a:rPr>
              <a:t>Y</a:t>
            </a:r>
            <a:r>
              <a:rPr lang="en-US" sz="25650" spc="-2308">
                <a:solidFill>
                  <a:srgbClr val="222223"/>
                </a:solidFill>
                <a:latin typeface="TT Fors"/>
                <a:ea typeface="TT Fors"/>
                <a:cs typeface="TT Fors"/>
                <a:sym typeface="TT Fors"/>
              </a:rPr>
              <a:t>ou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96009" y="-353848"/>
            <a:ext cx="6119299" cy="10994697"/>
            <a:chOff x="0" y="0"/>
            <a:chExt cx="948040" cy="17033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8040" cy="1703366"/>
            </a:xfrm>
            <a:custGeom>
              <a:avLst/>
              <a:gdLst/>
              <a:ahLst/>
              <a:cxnLst/>
              <a:rect l="l" t="t" r="r" b="b"/>
              <a:pathLst>
                <a:path w="948040" h="1703366">
                  <a:moveTo>
                    <a:pt x="0" y="0"/>
                  </a:moveTo>
                  <a:lnTo>
                    <a:pt x="948040" y="0"/>
                  </a:lnTo>
                  <a:lnTo>
                    <a:pt x="948040" y="1703366"/>
                  </a:lnTo>
                  <a:lnTo>
                    <a:pt x="0" y="1703366"/>
                  </a:lnTo>
                  <a:close/>
                </a:path>
              </a:pathLst>
            </a:custGeom>
            <a:blipFill>
              <a:blip r:embed="rId2"/>
              <a:stretch>
                <a:fillRect l="-9853" r="-9853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6650442" y="9651111"/>
            <a:ext cx="258927" cy="25892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0373" y="9651111"/>
            <a:ext cx="258927" cy="25892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5C5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503831" y="8859520"/>
            <a:ext cx="4755469" cy="97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Regina Adobea Essien</a:t>
            </a:r>
          </a:p>
          <a:p>
            <a:pPr algn="r">
              <a:lnSpc>
                <a:spcPts val="3919"/>
              </a:lnSpc>
            </a:pPr>
            <a:endParaRPr lang="en-US" sz="2799" b="1">
              <a:solidFill>
                <a:srgbClr val="000000"/>
              </a:solidFill>
              <a:latin typeface="TT Fors Bold"/>
              <a:ea typeface="TT Fors Bold"/>
              <a:cs typeface="TT Fors Bold"/>
              <a:sym typeface="TT For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847249" y="8507095"/>
            <a:ext cx="2412051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19"/>
              </a:lnSpc>
              <a:spcBef>
                <a:spcPct val="0"/>
              </a:spcBef>
            </a:pPr>
            <a:r>
              <a:rPr lang="en-US" sz="2299" u="none" strike="noStrike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Presented by :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007089" y="416376"/>
            <a:ext cx="4473452" cy="1224647"/>
          </a:xfrm>
          <a:custGeom>
            <a:avLst/>
            <a:gdLst/>
            <a:ahLst/>
            <a:cxnLst/>
            <a:rect l="l" t="t" r="r" b="b"/>
            <a:pathLst>
              <a:path w="4473452" h="1224647">
                <a:moveTo>
                  <a:pt x="0" y="0"/>
                </a:moveTo>
                <a:lnTo>
                  <a:pt x="4473452" y="0"/>
                </a:lnTo>
                <a:lnTo>
                  <a:pt x="4473452" y="1224648"/>
                </a:lnTo>
                <a:lnTo>
                  <a:pt x="0" y="1224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3337</TotalTime>
  <Words>2907</Words>
  <Application>Microsoft Office PowerPoint</Application>
  <PresentationFormat>Custom</PresentationFormat>
  <Paragraphs>402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Times New Roman</vt:lpstr>
      <vt:lpstr>Arial</vt:lpstr>
      <vt:lpstr>TT Fors Bold</vt:lpstr>
      <vt:lpstr>Open Sauce Bold Italics</vt:lpstr>
      <vt:lpstr>Canva Sans Bold</vt:lpstr>
      <vt:lpstr>TT Fors Italics</vt:lpstr>
      <vt:lpstr>Open Sauce</vt:lpstr>
      <vt:lpstr>Calibri</vt:lpstr>
      <vt:lpstr>TT Fors</vt:lpstr>
      <vt:lpstr>Open Sauce Light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Adobea - Thesis</dc:title>
  <dc:creator>S P E C T R E</dc:creator>
  <cp:lastModifiedBy>Adobea Essien</cp:lastModifiedBy>
  <cp:revision>17</cp:revision>
  <dcterms:created xsi:type="dcterms:W3CDTF">2006-08-16T00:00:00Z</dcterms:created>
  <dcterms:modified xsi:type="dcterms:W3CDTF">2026-05-05T17:43:18Z</dcterms:modified>
  <dc:identifier>DAHIPDvZv8M</dc:identifier>
</cp:coreProperties>
</file>